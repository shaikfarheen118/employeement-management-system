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65" r:id="rId5"/>
    <p:sldId id="272" r:id="rId6"/>
    <p:sldId id="266" r:id="rId7"/>
    <p:sldId id="267" r:id="rId8"/>
    <p:sldId id="268" r:id="rId9"/>
    <p:sldId id="269" r:id="rId10"/>
    <p:sldId id="274" r:id="rId11"/>
    <p:sldId id="276" r:id="rId12"/>
    <p:sldId id="260" r:id="rId13"/>
    <p:sldId id="261" r:id="rId14"/>
    <p:sldId id="262" r:id="rId15"/>
    <p:sldId id="263" r:id="rId16"/>
    <p:sldId id="264" r:id="rId17"/>
    <p:sldId id="278" r:id="rId18"/>
    <p:sldId id="279" r:id="rId19"/>
    <p:sldId id="273" r:id="rId20"/>
    <p:sldId id="270" r:id="rId21"/>
    <p:sldId id="277" r:id="rId22"/>
    <p:sldId id="259" r:id="rId23"/>
    <p:sldId id="271" r:id="rId24"/>
  </p:sldIdLst>
  <p:sldSz cx="12192000" cy="6858000"/>
  <p:notesSz cx="6858000" cy="9144000"/>
  <p:embeddedFontLst>
    <p:embeddedFont>
      <p:font typeface="SimSun" panose="02010600030101010101" pitchFamily="2" charset="-122"/>
      <p:regular r:id="rId28"/>
    </p:embeddedFont>
    <p:embeddedFont>
      <p:font typeface="Calibri" panose="020F0502020204030204"/>
      <p:regular r:id="rId29"/>
      <p:bold r:id="rId30"/>
      <p:italic r:id="rId31"/>
      <p:boldItalic r:id="rId32"/>
    </p:embeddedFont>
    <p:embeddedFont>
      <p:font typeface="Lucida Sans" panose="020B0602030504020204" charset="0"/>
      <p:regular r:id="rId33"/>
      <p:bold r:id="rId34"/>
      <p:italic r:id="rId35"/>
    </p:embeddedFont>
    <p:embeddedFont>
      <p:font typeface="Libre Baskerville" panose="0200000000000000000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font" Target="fonts/font12.fntdata"/><Relationship Id="rId38" Type="http://schemas.openxmlformats.org/officeDocument/2006/relationships/font" Target="fonts/font11.fntdata"/><Relationship Id="rId37" Type="http://schemas.openxmlformats.org/officeDocument/2006/relationships/font" Target="fonts/font10.fntdata"/><Relationship Id="rId36" Type="http://schemas.openxmlformats.org/officeDocument/2006/relationships/font" Target="fonts/font9.fntdata"/><Relationship Id="rId35" Type="http://schemas.openxmlformats.org/officeDocument/2006/relationships/font" Target="fonts/font8.fntdata"/><Relationship Id="rId34" Type="http://schemas.openxmlformats.org/officeDocument/2006/relationships/font" Target="fonts/font7.fntdata"/><Relationship Id="rId33" Type="http://schemas.openxmlformats.org/officeDocument/2006/relationships/font" Target="fonts/font6.fntdata"/><Relationship Id="rId32" Type="http://schemas.openxmlformats.org/officeDocument/2006/relationships/font" Target="fonts/font5.fntdata"/><Relationship Id="rId31" Type="http://schemas.openxmlformats.org/officeDocument/2006/relationships/font" Target="fonts/font4.fntdata"/><Relationship Id="rId30" Type="http://schemas.openxmlformats.org/officeDocument/2006/relationships/font" Target="fonts/font3.fntdata"/><Relationship Id="rId3" Type="http://schemas.openxmlformats.org/officeDocument/2006/relationships/slide" Target="slides/slide1.xml"/><Relationship Id="rId29" Type="http://schemas.openxmlformats.org/officeDocument/2006/relationships/font" Target="fonts/font2.fntdata"/><Relationship Id="rId28" Type="http://schemas.openxmlformats.org/officeDocument/2006/relationships/font" Target="fonts/font1.fntdata"/><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94" name="Shape 94"/>
        <p:cNvGrpSpPr/>
        <p:nvPr/>
      </p:nvGrpSpPr>
      <p:grpSpPr>
        <a:xfrm>
          <a:off x="0" y="0"/>
          <a:ext cx="0" cy="0"/>
          <a:chOff x="0" y="0"/>
          <a:chExt cx="0" cy="0"/>
        </a:xfrm>
      </p:grpSpPr>
      <p:sp>
        <p:nvSpPr>
          <p:cNvPr id="95" name="Google Shape;95;p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p>
        </p:txBody>
      </p:sp>
      <p:sp>
        <p:nvSpPr>
          <p:cNvPr id="96" name="Google Shape;96;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p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
        <p:nvSpPr>
          <p:cNvPr id="114" name="Google Shape;114;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p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
        <p:nvSpPr>
          <p:cNvPr id="114" name="Google Shape;114;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5" name="Shape 15"/>
        <p:cNvGrpSpPr/>
        <p:nvPr/>
      </p:nvGrpSpPr>
      <p:grpSpPr>
        <a:xfrm>
          <a:off x="0" y="0"/>
          <a:ext cx="0" cy="0"/>
          <a:chOff x="0" y="0"/>
          <a:chExt cx="0" cy="0"/>
        </a:xfrm>
      </p:grpSpPr>
      <p:sp>
        <p:nvSpPr>
          <p:cNvPr id="16" name="Google Shape;16;p7"/>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0" name="Google Shape;20;p7"/>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21" name="Shape 21"/>
        <p:cNvGrpSpPr/>
        <p:nvPr/>
      </p:nvGrpSpPr>
      <p:grpSpPr>
        <a:xfrm>
          <a:off x="0" y="0"/>
          <a:ext cx="0" cy="0"/>
          <a:chOff x="0" y="0"/>
          <a:chExt cx="0" cy="0"/>
        </a:xfrm>
      </p:grpSpPr>
      <p:sp>
        <p:nvSpPr>
          <p:cNvPr id="22" name="Google Shape;22;p9"/>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9"/>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5" name="Google Shape;25;p9"/>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6" name="Shape 26"/>
        <p:cNvGrpSpPr/>
        <p:nvPr/>
      </p:nvGrpSpPr>
      <p:grpSpPr>
        <a:xfrm>
          <a:off x="0" y="0"/>
          <a:ext cx="0" cy="0"/>
          <a:chOff x="0" y="0"/>
          <a:chExt cx="0" cy="0"/>
        </a:xfrm>
      </p:grpSpPr>
      <p:sp>
        <p:nvSpPr>
          <p:cNvPr id="27" name="Google Shape;27;p10"/>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9" name="Google Shape;29;p10"/>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2" name="Google Shape;32;p10"/>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33" name="Shape 33"/>
        <p:cNvGrpSpPr/>
        <p:nvPr/>
      </p:nvGrpSpPr>
      <p:grpSpPr>
        <a:xfrm>
          <a:off x="0" y="0"/>
          <a:ext cx="0" cy="0"/>
          <a:chOff x="0" y="0"/>
          <a:chExt cx="0" cy="0"/>
        </a:xfrm>
      </p:grpSpPr>
      <p:sp>
        <p:nvSpPr>
          <p:cNvPr id="34" name="Google Shape;34;p8"/>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8"/>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9" name="Google Shape;39;p8"/>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40" name="Shape 40"/>
        <p:cNvGrpSpPr/>
        <p:nvPr/>
      </p:nvGrpSpPr>
      <p:grpSpPr>
        <a:xfrm>
          <a:off x="0" y="0"/>
          <a:ext cx="0" cy="0"/>
          <a:chOff x="0" y="0"/>
          <a:chExt cx="0" cy="0"/>
        </a:xfrm>
      </p:grpSpPr>
      <p:sp>
        <p:nvSpPr>
          <p:cNvPr id="41" name="Google Shape;41;p11"/>
          <p:cNvSpPr txBox="1"/>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1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46" name="Google Shape;46;p11"/>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47" name="Shape 47"/>
        <p:cNvGrpSpPr/>
        <p:nvPr/>
      </p:nvGrpSpPr>
      <p:grpSpPr>
        <a:xfrm>
          <a:off x="0" y="0"/>
          <a:ext cx="0" cy="0"/>
          <a:chOff x="0" y="0"/>
          <a:chExt cx="0" cy="0"/>
        </a:xfrm>
      </p:grpSpPr>
      <p:sp>
        <p:nvSpPr>
          <p:cNvPr id="48" name="Google Shape;48;p12"/>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12"/>
          <p:cNvSpPr txBox="1"/>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1" name="Google Shape;51;p1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54" name="Google Shape;54;p12"/>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55" name="Shape 55"/>
        <p:cNvGrpSpPr/>
        <p:nvPr/>
      </p:nvGrpSpPr>
      <p:grpSpPr>
        <a:xfrm>
          <a:off x="0" y="0"/>
          <a:ext cx="0" cy="0"/>
          <a:chOff x="0" y="0"/>
          <a:chExt cx="0" cy="0"/>
        </a:xfrm>
      </p:grpSpPr>
      <p:sp>
        <p:nvSpPr>
          <p:cNvPr id="56" name="Google Shape;56;p13"/>
          <p:cNvSpPr txBox="1"/>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3"/>
          <p:cNvSpPr txBox="1"/>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8" name="Google Shape;58;p13"/>
          <p:cNvSpPr txBox="1"/>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9" name="Google Shape;59;p13"/>
          <p:cNvSpPr txBox="1"/>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60" name="Google Shape;60;p13"/>
          <p:cNvSpPr txBox="1"/>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1" name="Google Shape;61;p1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64" name="Google Shape;64;p13"/>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65" name="Shape 65"/>
        <p:cNvGrpSpPr/>
        <p:nvPr/>
      </p:nvGrpSpPr>
      <p:grpSpPr>
        <a:xfrm>
          <a:off x="0" y="0"/>
          <a:ext cx="0" cy="0"/>
          <a:chOff x="0" y="0"/>
          <a:chExt cx="0" cy="0"/>
        </a:xfrm>
      </p:grpSpPr>
      <p:sp>
        <p:nvSpPr>
          <p:cNvPr id="66" name="Google Shape;66;p14"/>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8" name="Google Shape;68;p14"/>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72" name="Google Shape;72;p14"/>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73" name="Shape 73"/>
        <p:cNvGrpSpPr/>
        <p:nvPr/>
      </p:nvGrpSpPr>
      <p:grpSpPr>
        <a:xfrm>
          <a:off x="0" y="0"/>
          <a:ext cx="0" cy="0"/>
          <a:chOff x="0" y="0"/>
          <a:chExt cx="0" cy="0"/>
        </a:xfrm>
      </p:grpSpPr>
      <p:sp>
        <p:nvSpPr>
          <p:cNvPr id="74" name="Google Shape;74;p15"/>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5"/>
          <p:cNvSpPr/>
          <p:nvPr>
            <p:ph type="pic" idx="2"/>
          </p:nvPr>
        </p:nvSpPr>
        <p:spPr>
          <a:xfrm>
            <a:off x="5183188" y="987425"/>
            <a:ext cx="6172200" cy="4873625"/>
          </a:xfrm>
          <a:prstGeom prst="rect">
            <a:avLst/>
          </a:prstGeom>
          <a:noFill/>
          <a:ln>
            <a:noFill/>
          </a:ln>
        </p:spPr>
      </p:sp>
      <p:sp>
        <p:nvSpPr>
          <p:cNvPr id="76" name="Google Shape;76;p15"/>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7" name="Google Shape;77;p1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0" name="Google Shape;80;p15"/>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81" name="Shape 81"/>
        <p:cNvGrpSpPr/>
        <p:nvPr/>
      </p:nvGrpSpPr>
      <p:grpSpPr>
        <a:xfrm>
          <a:off x="0" y="0"/>
          <a:ext cx="0" cy="0"/>
          <a:chOff x="0" y="0"/>
          <a:chExt cx="0" cy="0"/>
        </a:xfrm>
      </p:grpSpPr>
      <p:sp>
        <p:nvSpPr>
          <p:cNvPr id="82" name="Google Shape;82;p16"/>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6"/>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4" name="Google Shape;84;p1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7" name="Google Shape;87;p16"/>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88" name="Shape 88"/>
        <p:cNvGrpSpPr/>
        <p:nvPr/>
      </p:nvGrpSpPr>
      <p:grpSpPr>
        <a:xfrm>
          <a:off x="0" y="0"/>
          <a:ext cx="0" cy="0"/>
          <a:chOff x="0" y="0"/>
          <a:chExt cx="0" cy="0"/>
        </a:xfrm>
      </p:grpSpPr>
      <p:sp>
        <p:nvSpPr>
          <p:cNvPr id="89" name="Google Shape;89;p17"/>
          <p:cNvSpPr txBox="1"/>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7"/>
          <p:cNvSpPr txBox="1"/>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1" name="Google Shape;91;p1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6"/>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6"/>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97" name="Shape 97"/>
        <p:cNvGrpSpPr/>
        <p:nvPr/>
      </p:nvGrpSpPr>
      <p:grpSpPr>
        <a:xfrm>
          <a:off x="0" y="0"/>
          <a:ext cx="0" cy="0"/>
          <a:chOff x="0" y="0"/>
          <a:chExt cx="0" cy="0"/>
        </a:xfrm>
      </p:grpSpPr>
      <p:pic>
        <p:nvPicPr>
          <p:cNvPr id="98" name="Google Shape;98;p1"/>
          <p:cNvPicPr preferRelativeResize="0"/>
          <p:nvPr/>
        </p:nvPicPr>
        <p:blipFill rotWithShape="1">
          <a:blip r:embed="rId1"/>
          <a:srcRect/>
          <a:stretch>
            <a:fillRect/>
          </a:stretch>
        </p:blipFill>
        <p:spPr>
          <a:xfrm>
            <a:off x="592" y="0"/>
            <a:ext cx="12190815" cy="6694098"/>
          </a:xfrm>
          <a:prstGeom prst="rect">
            <a:avLst/>
          </a:prstGeom>
          <a:noFill/>
          <a:ln>
            <a:noFill/>
          </a:ln>
        </p:spPr>
      </p:pic>
      <p:sp>
        <p:nvSpPr>
          <p:cNvPr id="99" name="Google Shape;99;p1"/>
          <p:cNvSpPr txBox="1"/>
          <p:nvPr/>
        </p:nvSpPr>
        <p:spPr>
          <a:xfrm>
            <a:off x="2639060" y="3572510"/>
            <a:ext cx="7245985" cy="94869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br>
              <a:rPr lang="en-IN"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r>
              <a:rPr lang="en-IN" sz="3200" b="1" i="0" u="none" strike="noStrike" cap="none">
                <a:solidFill>
                  <a:srgbClr val="C00000"/>
                </a:solidFill>
                <a:latin typeface="Arial" panose="020B0604020202020204"/>
                <a:ea typeface="Arial" panose="020B0604020202020204"/>
                <a:cs typeface="Arial" panose="020B0604020202020204"/>
                <a:sym typeface="Arial" panose="020B0604020202020204"/>
              </a:rPr>
              <a:t>Employee Management System</a:t>
            </a:r>
            <a:endParaRPr lang="en-IN" sz="3200" b="1" i="0" u="none" strike="noStrike" cap="none">
              <a:solidFill>
                <a:srgbClr val="C00000"/>
              </a:solidFill>
              <a:latin typeface="Arial" panose="020B0604020202020204"/>
              <a:ea typeface="Arial" panose="020B0604020202020204"/>
              <a:cs typeface="Arial" panose="020B0604020202020204"/>
              <a:sym typeface="Arial" panose="020B0604020202020204"/>
            </a:endParaRPr>
          </a:p>
        </p:txBody>
      </p:sp>
      <p:sp>
        <p:nvSpPr>
          <p:cNvPr id="2" name="Text Box 1"/>
          <p:cNvSpPr txBox="1"/>
          <p:nvPr/>
        </p:nvSpPr>
        <p:spPr>
          <a:xfrm>
            <a:off x="7392035" y="5085080"/>
            <a:ext cx="3982720" cy="953135"/>
          </a:xfrm>
          <a:prstGeom prst="rect">
            <a:avLst/>
          </a:prstGeom>
          <a:noFill/>
        </p:spPr>
        <p:txBody>
          <a:bodyPr wrap="square" rtlCol="0">
            <a:spAutoFit/>
          </a:bodyPr>
          <a:p>
            <a:r>
              <a:rPr lang="en-US" sz="2000" b="1"/>
              <a:t>Presentation by:</a:t>
            </a:r>
            <a:endParaRPr lang="en-US" sz="2000" b="1"/>
          </a:p>
          <a:p>
            <a:r>
              <a:rPr lang="en-US" sz="1800"/>
              <a:t>Shaik Farheen - </a:t>
            </a:r>
            <a:r>
              <a:rPr lang="en-US" sz="1800" b="1"/>
              <a:t>Batch No:</a:t>
            </a:r>
            <a:r>
              <a:rPr lang="en-US" sz="1800"/>
              <a:t> 533</a:t>
            </a:r>
            <a:endParaRPr lang="en-US" sz="1800"/>
          </a:p>
          <a:p>
            <a:r>
              <a:rPr lang="en-US" sz="1800"/>
              <a:t>B. Dharakeshwari - </a:t>
            </a:r>
            <a:r>
              <a:rPr lang="en-US" sz="1800" b="1">
                <a:sym typeface="+mn-ea"/>
              </a:rPr>
              <a:t>Batch No:</a:t>
            </a:r>
            <a:r>
              <a:rPr lang="en-US" sz="1800">
                <a:sym typeface="+mn-ea"/>
              </a:rPr>
              <a:t> 536</a:t>
            </a:r>
            <a:endParaRPr 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838200" y="188595"/>
            <a:ext cx="2799715" cy="553720"/>
          </a:xfrm>
        </p:spPr>
        <p:txBody>
          <a:bodyPr>
            <a:normAutofit fontScale="90000"/>
          </a:bodyPr>
          <a:p>
            <a:r>
              <a:rPr lang="en-IN" altLang="en-US" u="sng">
                <a:solidFill>
                  <a:srgbClr val="C00000"/>
                </a:solidFill>
              </a:rPr>
              <a:t>A</a:t>
            </a:r>
            <a:r>
              <a:rPr lang="en-US" altLang="en-IN" u="sng">
                <a:solidFill>
                  <a:srgbClr val="C00000"/>
                </a:solidFill>
              </a:rPr>
              <a:t>genda</a:t>
            </a:r>
            <a:endParaRPr lang="en-US" altLang="en-IN" u="sng">
              <a:solidFill>
                <a:srgbClr val="C00000"/>
              </a:solidFill>
            </a:endParaRPr>
          </a:p>
        </p:txBody>
      </p:sp>
      <p:sp>
        <p:nvSpPr>
          <p:cNvPr id="3" name="Text Placeholder 2"/>
          <p:cNvSpPr/>
          <p:nvPr>
            <p:ph type="body" idx="1"/>
          </p:nvPr>
        </p:nvSpPr>
        <p:spPr>
          <a:xfrm>
            <a:off x="838200" y="1037590"/>
            <a:ext cx="9791065" cy="5139690"/>
          </a:xfrm>
        </p:spPr>
        <p:txBody>
          <a:bodyPr>
            <a:normAutofit lnSpcReduction="10000"/>
          </a:bodyPr>
          <a:p>
            <a:pPr>
              <a:lnSpc>
                <a:spcPct val="110000"/>
              </a:lnSpc>
              <a:buFont typeface="Arial" panose="020B0604020202020204" pitchFamily="34" charset="0"/>
              <a:buChar char="•"/>
            </a:pPr>
            <a:r>
              <a:rPr lang="en-US" altLang="en-IN" sz="2400"/>
              <a:t>About us</a:t>
            </a:r>
            <a:endParaRPr lang="en-US" altLang="en-IN" sz="2400"/>
          </a:p>
          <a:p>
            <a:pPr>
              <a:lnSpc>
                <a:spcPct val="110000"/>
              </a:lnSpc>
              <a:buFont typeface="Arial" panose="020B0604020202020204" pitchFamily="34" charset="0"/>
              <a:buChar char="•"/>
            </a:pPr>
            <a:r>
              <a:rPr lang="en-US" altLang="en-IN" sz="2400"/>
              <a:t>Introduction</a:t>
            </a:r>
            <a:endParaRPr lang="en-US" altLang="en-IN" sz="2400"/>
          </a:p>
          <a:p>
            <a:pPr>
              <a:lnSpc>
                <a:spcPct val="110000"/>
              </a:lnSpc>
              <a:buFont typeface="Arial" panose="020B0604020202020204" pitchFamily="34" charset="0"/>
              <a:buChar char="•"/>
            </a:pPr>
            <a:r>
              <a:rPr lang="en-US" altLang="en-IN" sz="2400"/>
              <a:t>Business problem</a:t>
            </a:r>
            <a:endParaRPr lang="en-US" altLang="en-IN" sz="2400"/>
          </a:p>
          <a:p>
            <a:pPr>
              <a:lnSpc>
                <a:spcPct val="110000"/>
              </a:lnSpc>
              <a:buFont typeface="Arial" panose="020B0604020202020204" pitchFamily="34" charset="0"/>
              <a:buChar char="•"/>
            </a:pPr>
            <a:r>
              <a:rPr lang="en-US" altLang="en-IN" sz="2400"/>
              <a:t>Problem Statement</a:t>
            </a:r>
            <a:endParaRPr lang="en-US" altLang="en-IN" sz="2400"/>
          </a:p>
          <a:p>
            <a:pPr>
              <a:lnSpc>
                <a:spcPct val="110000"/>
              </a:lnSpc>
              <a:buFont typeface="Arial" panose="020B0604020202020204" pitchFamily="34" charset="0"/>
              <a:buChar char="•"/>
            </a:pPr>
            <a:r>
              <a:rPr lang="en-US" altLang="en-IN" sz="2400"/>
              <a:t>Objective</a:t>
            </a:r>
            <a:endParaRPr lang="en-US" altLang="en-IN" sz="2400"/>
          </a:p>
          <a:p>
            <a:pPr>
              <a:lnSpc>
                <a:spcPct val="110000"/>
              </a:lnSpc>
              <a:buFont typeface="Arial" panose="020B0604020202020204" pitchFamily="34" charset="0"/>
              <a:buChar char="•"/>
            </a:pPr>
            <a:r>
              <a:rPr lang="en-US" altLang="en-IN" sz="2400"/>
              <a:t>Key Analysis Queries</a:t>
            </a:r>
            <a:endParaRPr lang="en-US" altLang="en-IN" sz="2400"/>
          </a:p>
          <a:p>
            <a:pPr>
              <a:lnSpc>
                <a:spcPct val="110000"/>
              </a:lnSpc>
              <a:buFont typeface="Arial" panose="020B0604020202020204" pitchFamily="34" charset="0"/>
              <a:buChar char="•"/>
            </a:pPr>
            <a:r>
              <a:rPr lang="en-US" altLang="en-IN" sz="2400"/>
              <a:t>Data Description</a:t>
            </a:r>
            <a:endParaRPr lang="en-US" altLang="en-IN" sz="2400"/>
          </a:p>
          <a:p>
            <a:pPr>
              <a:lnSpc>
                <a:spcPct val="110000"/>
              </a:lnSpc>
              <a:buFont typeface="Arial" panose="020B0604020202020204" pitchFamily="34" charset="0"/>
              <a:buChar char="•"/>
            </a:pPr>
            <a:r>
              <a:rPr lang="en-US" altLang="en-IN" sz="2400"/>
              <a:t>Conclusion</a:t>
            </a:r>
            <a:endParaRPr lang="en-US" altLang="en-IN" sz="2400"/>
          </a:p>
          <a:p>
            <a:pPr>
              <a:lnSpc>
                <a:spcPct val="110000"/>
              </a:lnSpc>
              <a:buFont typeface="Arial" panose="020B0604020202020204" pitchFamily="34" charset="0"/>
              <a:buChar char="•"/>
            </a:pPr>
            <a:r>
              <a:rPr lang="en-US" altLang="en-IN" sz="2400"/>
              <a:t>Challenges</a:t>
            </a:r>
            <a:endParaRPr lang="en-US" altLang="en-IN" sz="2400"/>
          </a:p>
          <a:p>
            <a:pPr>
              <a:lnSpc>
                <a:spcPct val="110000"/>
              </a:lnSpc>
              <a:buFont typeface="Arial" panose="020B0604020202020204" pitchFamily="34" charset="0"/>
              <a:buChar char="•"/>
            </a:pPr>
            <a:r>
              <a:rPr lang="en-US" altLang="en-IN" sz="2400"/>
              <a:t>Recomendations</a:t>
            </a:r>
            <a:endParaRPr lang="en-US" altLang="en-IN"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838200" y="188595"/>
            <a:ext cx="2799715" cy="553720"/>
          </a:xfrm>
        </p:spPr>
        <p:txBody>
          <a:bodyPr>
            <a:normAutofit fontScale="90000"/>
          </a:bodyPr>
          <a:p>
            <a:r>
              <a:rPr lang="en-IN" altLang="en-US" u="sng">
                <a:solidFill>
                  <a:srgbClr val="C00000"/>
                </a:solidFill>
              </a:rPr>
              <a:t>About us</a:t>
            </a:r>
            <a:endParaRPr lang="en-IN" altLang="en-US" u="sng">
              <a:solidFill>
                <a:srgbClr val="C00000"/>
              </a:solidFill>
            </a:endParaRPr>
          </a:p>
        </p:txBody>
      </p:sp>
      <p:sp>
        <p:nvSpPr>
          <p:cNvPr id="3" name="Text Placeholder 2"/>
          <p:cNvSpPr/>
          <p:nvPr>
            <p:ph type="body" idx="1"/>
          </p:nvPr>
        </p:nvSpPr>
        <p:spPr>
          <a:xfrm>
            <a:off x="771525" y="1037590"/>
            <a:ext cx="9726930" cy="2391410"/>
          </a:xfrm>
        </p:spPr>
        <p:txBody>
          <a:bodyPr>
            <a:normAutofit/>
          </a:bodyPr>
          <a:p>
            <a:pPr marL="114300" indent="0">
              <a:lnSpc>
                <a:spcPct val="90000"/>
              </a:lnSpc>
              <a:buNone/>
            </a:pPr>
            <a:r>
              <a:rPr lang="en-IN" altLang="en-US" sz="1800">
                <a:solidFill>
                  <a:srgbClr val="C00000"/>
                </a:solidFill>
              </a:rPr>
              <a:t>Name:</a:t>
            </a:r>
            <a:r>
              <a:rPr lang="en-IN" altLang="en-US" sz="1800"/>
              <a:t> shaik Farheen</a:t>
            </a:r>
            <a:endParaRPr lang="en-IN" altLang="en-US" sz="1800"/>
          </a:p>
          <a:p>
            <a:pPr marL="114300" indent="0">
              <a:lnSpc>
                <a:spcPct val="90000"/>
              </a:lnSpc>
              <a:buNone/>
            </a:pPr>
            <a:r>
              <a:rPr lang="en-IN" altLang="en-US" sz="1800">
                <a:solidFill>
                  <a:srgbClr val="C00000"/>
                </a:solidFill>
              </a:rPr>
              <a:t>Education:</a:t>
            </a:r>
            <a:r>
              <a:rPr lang="en-IN" altLang="en-US" sz="1800"/>
              <a:t> </a:t>
            </a:r>
            <a:r>
              <a:rPr lang="en-IN" altLang="en-US" sz="1800"/>
              <a:t>BSC- Computer Science</a:t>
            </a:r>
            <a:endParaRPr lang="en-IN" altLang="en-US" sz="1800"/>
          </a:p>
          <a:p>
            <a:pPr marL="114300" indent="0">
              <a:lnSpc>
                <a:spcPct val="90000"/>
              </a:lnSpc>
              <a:buNone/>
            </a:pPr>
            <a:r>
              <a:rPr lang="en-US" altLang="en-US" sz="1800"/>
              <a:t>I want to learn Data Science because I’m curious about how raw data can tell stories, reveal hidden patterns, and predict what might happen next. </a:t>
            </a:r>
            <a:endParaRPr lang="en-US" altLang="en-US" sz="1800"/>
          </a:p>
          <a:p>
            <a:pPr marL="114300" indent="0">
              <a:lnSpc>
                <a:spcPct val="90000"/>
              </a:lnSpc>
              <a:buNone/>
            </a:pPr>
            <a:r>
              <a:rPr lang="en-IN" altLang="en-US" sz="1800" b="1"/>
              <a:t>LinkedIn:</a:t>
            </a:r>
            <a:r>
              <a:rPr lang="en-US" altLang="en-IN" sz="1800" b="1"/>
              <a:t> </a:t>
            </a:r>
            <a:r>
              <a:rPr lang="en-US" altLang="en-US" sz="1800"/>
              <a:t>https://www.linkedin.com/in/shaik-farheen1807</a:t>
            </a:r>
            <a:endParaRPr lang="en-US" altLang="en-US" sz="1800" b="1"/>
          </a:p>
          <a:p>
            <a:pPr marL="114300" indent="0">
              <a:lnSpc>
                <a:spcPct val="90000"/>
              </a:lnSpc>
              <a:buNone/>
            </a:pPr>
            <a:r>
              <a:rPr lang="en-IN" altLang="en-US" sz="1800" b="1"/>
              <a:t>Github:</a:t>
            </a:r>
            <a:r>
              <a:rPr lang="en-US" altLang="en-IN" sz="1800" b="1"/>
              <a:t> </a:t>
            </a:r>
            <a:r>
              <a:rPr lang="en-US" altLang="en-US" sz="1800"/>
              <a:t>https://github.com/shaikfarheen118</a:t>
            </a:r>
            <a:endParaRPr lang="en-US" altLang="en-US" sz="1800"/>
          </a:p>
        </p:txBody>
      </p:sp>
      <p:sp>
        <p:nvSpPr>
          <p:cNvPr id="4" name="Text Placeholder 3"/>
          <p:cNvSpPr/>
          <p:nvPr>
            <p:ph type="body" idx="2"/>
          </p:nvPr>
        </p:nvSpPr>
        <p:spPr>
          <a:xfrm>
            <a:off x="826770" y="3495675"/>
            <a:ext cx="9797415" cy="2500630"/>
          </a:xfrm>
        </p:spPr>
        <p:txBody>
          <a:bodyPr>
            <a:noAutofit/>
          </a:bodyPr>
          <a:p>
            <a:pPr marL="114300" indent="0">
              <a:lnSpc>
                <a:spcPct val="100000"/>
              </a:lnSpc>
              <a:buNone/>
            </a:pPr>
            <a:r>
              <a:rPr lang="en-IN" altLang="en-US" sz="1700">
                <a:solidFill>
                  <a:srgbClr val="C00000"/>
                </a:solidFill>
                <a:sym typeface="+mn-ea"/>
              </a:rPr>
              <a:t>Name:</a:t>
            </a:r>
            <a:r>
              <a:rPr lang="en-IN" altLang="en-US" sz="1700">
                <a:sym typeface="+mn-ea"/>
              </a:rPr>
              <a:t> </a:t>
            </a:r>
            <a:r>
              <a:rPr lang="en-US" altLang="en-IN" sz="1700">
                <a:sym typeface="+mn-ea"/>
              </a:rPr>
              <a:t>B.</a:t>
            </a:r>
            <a:r>
              <a:rPr lang="en-IN" altLang="en-US" sz="1700">
                <a:sym typeface="+mn-ea"/>
              </a:rPr>
              <a:t>Dharakeshwari</a:t>
            </a:r>
            <a:endParaRPr lang="en-IN" altLang="en-US" sz="1700"/>
          </a:p>
          <a:p>
            <a:pPr marL="114300" indent="0">
              <a:lnSpc>
                <a:spcPct val="100000"/>
              </a:lnSpc>
              <a:buNone/>
            </a:pPr>
            <a:r>
              <a:rPr lang="en-IN" altLang="en-US" sz="1700">
                <a:solidFill>
                  <a:srgbClr val="C00000"/>
                </a:solidFill>
                <a:sym typeface="+mn-ea"/>
              </a:rPr>
              <a:t>Education:</a:t>
            </a:r>
            <a:r>
              <a:rPr lang="en-IN" altLang="en-US" sz="1700">
                <a:sym typeface="+mn-ea"/>
              </a:rPr>
              <a:t> Btech</a:t>
            </a:r>
            <a:r>
              <a:rPr lang="en-US" altLang="en-IN" sz="1700">
                <a:sym typeface="+mn-ea"/>
              </a:rPr>
              <a:t>- CSE</a:t>
            </a:r>
            <a:endParaRPr lang="en-IN" altLang="en-US" sz="1700"/>
          </a:p>
          <a:p>
            <a:pPr marL="114300" indent="0">
              <a:lnSpc>
                <a:spcPct val="100000"/>
              </a:lnSpc>
              <a:buNone/>
            </a:pPr>
            <a:r>
              <a:rPr lang="en-US" altLang="en-US" sz="1700"/>
              <a:t>I want to learn Data Science because it combines curiosity, logic, and creativity. I like the idea of turning a simple question into a data-driven solution that can actually make a difference.</a:t>
            </a:r>
            <a:r>
              <a:rPr lang="en-US" altLang="en-US" sz="1700">
                <a:sym typeface="+mn-ea"/>
              </a:rPr>
              <a:t> </a:t>
            </a:r>
            <a:endParaRPr lang="en-US" altLang="en-US" sz="1700"/>
          </a:p>
          <a:p>
            <a:pPr marL="114300" indent="0">
              <a:lnSpc>
                <a:spcPct val="100000"/>
              </a:lnSpc>
              <a:buNone/>
            </a:pPr>
            <a:r>
              <a:rPr lang="en-IN" altLang="en-US" sz="1700" b="1">
                <a:sym typeface="+mn-ea"/>
              </a:rPr>
              <a:t>LinkedIn:</a:t>
            </a:r>
            <a:r>
              <a:rPr lang="en-US" altLang="en-IN" sz="1700" b="1">
                <a:sym typeface="+mn-ea"/>
              </a:rPr>
              <a:t> </a:t>
            </a:r>
            <a:r>
              <a:rPr lang="en-US" altLang="en-US" sz="1700">
                <a:sym typeface="+mn-ea"/>
              </a:rPr>
              <a:t>www.linkedin.com/in/dharakeshwaribanoth</a:t>
            </a:r>
            <a:endParaRPr lang="en-US" altLang="en-US" sz="1700">
              <a:sym typeface="+mn-ea"/>
            </a:endParaRPr>
          </a:p>
          <a:p>
            <a:pPr marL="114300" indent="0">
              <a:lnSpc>
                <a:spcPct val="100000"/>
              </a:lnSpc>
              <a:buNone/>
            </a:pPr>
            <a:r>
              <a:rPr lang="en-IN" altLang="en-US" sz="1700" b="1">
                <a:sym typeface="+mn-ea"/>
              </a:rPr>
              <a:t>Github:</a:t>
            </a:r>
            <a:r>
              <a:rPr lang="en-US" altLang="en-IN" sz="1700" b="1">
                <a:sym typeface="+mn-ea"/>
              </a:rPr>
              <a:t> </a:t>
            </a:r>
            <a:r>
              <a:rPr lang="en-US" altLang="en-US" sz="1700"/>
              <a:t>https://github.com/Dharakeshwari-Banoth</a:t>
            </a:r>
            <a:endParaRPr lang="en-US" altLang="en-US" sz="17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767715" y="188595"/>
            <a:ext cx="4380865" cy="877570"/>
          </a:xfrm>
        </p:spPr>
        <p:txBody>
          <a:bodyPr/>
          <a:p>
            <a:r>
              <a:rPr lang="en-IN" altLang="en-US" sz="2800" b="1" u="sng">
                <a:solidFill>
                  <a:srgbClr val="C00000"/>
                </a:solidFill>
                <a:latin typeface="Arial" panose="020B0604020202020204" pitchFamily="34" charset="0"/>
                <a:cs typeface="Arial" panose="020B0604020202020204" pitchFamily="34" charset="0"/>
              </a:rPr>
              <a:t>Business Problem</a:t>
            </a:r>
            <a:endParaRPr lang="en-IN" altLang="en-US" sz="2800" b="1" u="sng">
              <a:solidFill>
                <a:srgbClr val="C00000"/>
              </a:solidFill>
              <a:latin typeface="Arial" panose="020B0604020202020204" pitchFamily="34" charset="0"/>
              <a:cs typeface="Arial" panose="020B0604020202020204" pitchFamily="34" charset="0"/>
            </a:endParaRPr>
          </a:p>
        </p:txBody>
      </p:sp>
      <p:sp>
        <p:nvSpPr>
          <p:cNvPr id="3" name="Text Placeholder 2"/>
          <p:cNvSpPr/>
          <p:nvPr>
            <p:ph type="body" idx="1"/>
          </p:nvPr>
        </p:nvSpPr>
        <p:spPr>
          <a:xfrm>
            <a:off x="695960" y="1012190"/>
            <a:ext cx="10420350" cy="4786630"/>
          </a:xfrm>
        </p:spPr>
        <p:txBody>
          <a:bodyPr/>
          <a:p>
            <a:pPr marL="114300" indent="0" algn="l">
              <a:lnSpc>
                <a:spcPct val="150000"/>
              </a:lnSpc>
              <a:buNone/>
            </a:pPr>
            <a:r>
              <a:rPr lang="en-US" altLang="en-US" sz="2400">
                <a:latin typeface="Arial" panose="020B0604020202020204" pitchFamily="34" charset="0"/>
                <a:cs typeface="Arial" panose="020B0604020202020204" pitchFamily="34" charset="0"/>
              </a:rPr>
              <a:t>The company lacks a centralized system to effectively manage employee details, salaries, leaves, bonuses, jobs, and qualifications. This makes it difficult to track employee performance, control payroll costs, identify staffing needs, and make data-driven HR decisions.</a:t>
            </a:r>
            <a:endParaRPr lang="en-US" altLang="en-US" sz="240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767715" y="188595"/>
            <a:ext cx="4380865" cy="877570"/>
          </a:xfrm>
        </p:spPr>
        <p:txBody>
          <a:bodyPr/>
          <a:p>
            <a:r>
              <a:rPr lang="en-IN" altLang="en-US" sz="2800" b="1" u="sng">
                <a:solidFill>
                  <a:srgbClr val="C00000"/>
                </a:solidFill>
                <a:latin typeface="Arial" panose="020B0604020202020204" pitchFamily="34" charset="0"/>
                <a:cs typeface="Arial" panose="020B0604020202020204" pitchFamily="34" charset="0"/>
              </a:rPr>
              <a:t>Problem  Statement</a:t>
            </a:r>
            <a:endParaRPr lang="en-IN" altLang="en-US" sz="2800" b="1" u="sng">
              <a:solidFill>
                <a:srgbClr val="C00000"/>
              </a:solidFill>
              <a:latin typeface="Arial" panose="020B0604020202020204" pitchFamily="34" charset="0"/>
              <a:cs typeface="Arial" panose="020B0604020202020204" pitchFamily="34" charset="0"/>
            </a:endParaRPr>
          </a:p>
        </p:txBody>
      </p:sp>
      <p:sp>
        <p:nvSpPr>
          <p:cNvPr id="3" name="Text Placeholder 2"/>
          <p:cNvSpPr/>
          <p:nvPr>
            <p:ph type="body" idx="1"/>
          </p:nvPr>
        </p:nvSpPr>
        <p:spPr>
          <a:xfrm>
            <a:off x="695960" y="1066165"/>
            <a:ext cx="10420350" cy="4732655"/>
          </a:xfrm>
        </p:spPr>
        <p:txBody>
          <a:bodyPr/>
          <a:p>
            <a:pPr marL="114300" indent="0">
              <a:lnSpc>
                <a:spcPct val="150000"/>
              </a:lnSpc>
              <a:buNone/>
            </a:pPr>
            <a:r>
              <a:rPr lang="en-US" altLang="en-US" sz="2400">
                <a:latin typeface="Arial" panose="020B0604020202020204" pitchFamily="34" charset="0"/>
                <a:cs typeface="Arial" panose="020B0604020202020204" pitchFamily="34" charset="0"/>
              </a:rPr>
              <a:t>The company needs an efficient way to manage and analyze employee information, salaries, leaves, bonuses, jobs, and qualifications. The lack of centralized data makes it difficult for HR to track payroll, monitor employee attendance, and make informed workforce decisions. The SQL-based system aims to analyze employee data and provide useful insights for better HR and payroll management.</a:t>
            </a:r>
            <a:endParaRPr lang="en-US" altLang="en-US" sz="240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767715" y="188595"/>
            <a:ext cx="4380865" cy="877570"/>
          </a:xfrm>
        </p:spPr>
        <p:txBody>
          <a:bodyPr/>
          <a:p>
            <a:r>
              <a:rPr lang="en-IN" altLang="en-US" sz="2800" b="1" u="sng">
                <a:solidFill>
                  <a:srgbClr val="C00000"/>
                </a:solidFill>
                <a:latin typeface="Arial" panose="020B0604020202020204" pitchFamily="34" charset="0"/>
                <a:cs typeface="Arial" panose="020B0604020202020204" pitchFamily="34" charset="0"/>
              </a:rPr>
              <a:t>Objective</a:t>
            </a:r>
            <a:endParaRPr lang="en-IN" altLang="en-US" sz="2800" b="1" u="sng">
              <a:solidFill>
                <a:srgbClr val="C00000"/>
              </a:solidFill>
              <a:latin typeface="Arial" panose="020B0604020202020204" pitchFamily="34" charset="0"/>
              <a:cs typeface="Arial" panose="020B0604020202020204" pitchFamily="34" charset="0"/>
            </a:endParaRPr>
          </a:p>
        </p:txBody>
      </p:sp>
      <p:sp>
        <p:nvSpPr>
          <p:cNvPr id="3" name="Text Placeholder 2"/>
          <p:cNvSpPr/>
          <p:nvPr>
            <p:ph type="body" idx="1"/>
          </p:nvPr>
        </p:nvSpPr>
        <p:spPr>
          <a:xfrm>
            <a:off x="623570" y="878840"/>
            <a:ext cx="10420350" cy="5225415"/>
          </a:xfrm>
        </p:spPr>
        <p:txBody>
          <a:bodyPr>
            <a:noAutofit/>
          </a:bodyPr>
          <a:p>
            <a:pPr>
              <a:lnSpc>
                <a:spcPct val="130000"/>
              </a:lnSpc>
            </a:pPr>
            <a:r>
              <a:rPr lang="en-US" altLang="en-US" sz="2000">
                <a:latin typeface="Arial" panose="020B0604020202020204" pitchFamily="34" charset="0"/>
                <a:cs typeface="Arial" panose="020B0604020202020204" pitchFamily="34" charset="0"/>
              </a:rPr>
              <a:t>The objective of this project is to design and implement an Employee Management</a:t>
            </a:r>
            <a:r>
              <a:rPr lang="en-IN" altLang="en-US" sz="2000">
                <a:latin typeface="Arial" panose="020B0604020202020204" pitchFamily="34" charset="0"/>
                <a:cs typeface="Arial" panose="020B0604020202020204" pitchFamily="34" charset="0"/>
              </a:rPr>
              <a:t> </a:t>
            </a:r>
            <a:r>
              <a:rPr lang="en-US" altLang="en-US" sz="2000">
                <a:latin typeface="Arial" panose="020B0604020202020204" pitchFamily="34" charset="0"/>
                <a:cs typeface="Arial" panose="020B0604020202020204" pitchFamily="34" charset="0"/>
              </a:rPr>
              <a:t>System that efficiently stores and manages employee-related data within an organization. The system needs to track various aspects of employee information, including personal details, job roles, salary structures, </a:t>
            </a:r>
            <a:endParaRPr lang="en-US" altLang="en-US" sz="2000">
              <a:latin typeface="Arial" panose="020B0604020202020204" pitchFamily="34" charset="0"/>
              <a:cs typeface="Arial" panose="020B0604020202020204" pitchFamily="34" charset="0"/>
            </a:endParaRPr>
          </a:p>
          <a:p>
            <a:pPr>
              <a:lnSpc>
                <a:spcPct val="130000"/>
              </a:lnSpc>
            </a:pPr>
            <a:r>
              <a:rPr lang="en-US" altLang="en-US" sz="2000">
                <a:latin typeface="Arial" panose="020B0604020202020204" pitchFamily="34" charset="0"/>
                <a:cs typeface="Arial" panose="020B0604020202020204" pitchFamily="34" charset="0"/>
              </a:rPr>
              <a:t>qualifications, leave records, and payroll data. The system should ensure the integrity and consistency of data by using relational tables with appropriate foreign keys and cascading actions. </a:t>
            </a:r>
            <a:endParaRPr lang="en-US" altLang="en-US" sz="2000">
              <a:latin typeface="Arial" panose="020B0604020202020204" pitchFamily="34" charset="0"/>
              <a:cs typeface="Arial" panose="020B0604020202020204" pitchFamily="34" charset="0"/>
            </a:endParaRPr>
          </a:p>
          <a:p>
            <a:pPr>
              <a:lnSpc>
                <a:spcPct val="130000"/>
              </a:lnSpc>
            </a:pPr>
            <a:r>
              <a:rPr lang="en-US" altLang="en-US" sz="2000">
                <a:latin typeface="Arial" panose="020B0604020202020204" pitchFamily="34" charset="0"/>
                <a:cs typeface="Arial" panose="020B0604020202020204" pitchFamily="34" charset="0"/>
              </a:rPr>
              <a:t>The system should allow for easy management and querying of employee data, providing insights such as payroll calculation, leave tracking, and department-specific job roles.</a:t>
            </a:r>
            <a:endParaRPr lang="en-US" altLang="en-US" sz="2000">
              <a:latin typeface="Arial" panose="020B0604020202020204" pitchFamily="34" charset="0"/>
              <a:cs typeface="Arial" panose="020B0604020202020204" pitchFamily="34" charset="0"/>
            </a:endParaRPr>
          </a:p>
          <a:p>
            <a:pPr>
              <a:lnSpc>
                <a:spcPct val="110000"/>
              </a:lnSpc>
            </a:pPr>
            <a:r>
              <a:rPr lang="en-US" altLang="en-US" sz="2000">
                <a:latin typeface="Arial" panose="020B0604020202020204" pitchFamily="34" charset="0"/>
                <a:cs typeface="Arial" panose="020B0604020202020204" pitchFamily="34" charset="0"/>
              </a:rPr>
              <a:t>The goal is to streamline HR operations, ensuring that all relevant employee data is accessible and accurately updated across different modules.  </a:t>
            </a:r>
            <a:endParaRPr lang="en-US" altLang="en-US" sz="200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767080" y="44450"/>
            <a:ext cx="3013710" cy="902970"/>
          </a:xfrm>
        </p:spPr>
        <p:txBody>
          <a:bodyPr/>
          <a:p>
            <a:r>
              <a:rPr lang="en-US" altLang="en-IN" sz="2800" b="1" u="sng">
                <a:solidFill>
                  <a:srgbClr val="C00000"/>
                </a:solidFill>
                <a:latin typeface="Arial" panose="020B0604020202020204" pitchFamily="34" charset="0"/>
                <a:cs typeface="Arial" panose="020B0604020202020204" pitchFamily="34" charset="0"/>
              </a:rPr>
              <a:t>Data Description</a:t>
            </a:r>
            <a:endParaRPr lang="en-US" altLang="en-IN" sz="2800" b="1" u="sng">
              <a:solidFill>
                <a:srgbClr val="C00000"/>
              </a:solidFill>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1"/>
          <a:stretch>
            <a:fillRect/>
          </a:stretch>
        </p:blipFill>
        <p:spPr>
          <a:xfrm>
            <a:off x="767715" y="1557020"/>
            <a:ext cx="2598420" cy="2019300"/>
          </a:xfrm>
          <a:prstGeom prst="rect">
            <a:avLst/>
          </a:prstGeom>
        </p:spPr>
      </p:pic>
      <p:pic>
        <p:nvPicPr>
          <p:cNvPr id="5" name="Picture 4"/>
          <p:cNvPicPr>
            <a:picLocks noChangeAspect="1"/>
          </p:cNvPicPr>
          <p:nvPr/>
        </p:nvPicPr>
        <p:blipFill>
          <a:blip r:embed="rId2"/>
          <a:stretch>
            <a:fillRect/>
          </a:stretch>
        </p:blipFill>
        <p:spPr>
          <a:xfrm>
            <a:off x="4728210" y="1628775"/>
            <a:ext cx="2578735" cy="1872615"/>
          </a:xfrm>
          <a:prstGeom prst="rect">
            <a:avLst/>
          </a:prstGeom>
        </p:spPr>
      </p:pic>
      <p:pic>
        <p:nvPicPr>
          <p:cNvPr id="6" name="Picture 5"/>
          <p:cNvPicPr>
            <a:picLocks noChangeAspect="1"/>
          </p:cNvPicPr>
          <p:nvPr/>
        </p:nvPicPr>
        <p:blipFill>
          <a:blip r:embed="rId3"/>
          <a:stretch>
            <a:fillRect/>
          </a:stretch>
        </p:blipFill>
        <p:spPr>
          <a:xfrm>
            <a:off x="8328660" y="1484630"/>
            <a:ext cx="2727325" cy="1973580"/>
          </a:xfrm>
          <a:prstGeom prst="rect">
            <a:avLst/>
          </a:prstGeom>
        </p:spPr>
      </p:pic>
      <p:pic>
        <p:nvPicPr>
          <p:cNvPr id="7" name="Picture 6"/>
          <p:cNvPicPr>
            <a:picLocks noChangeAspect="1"/>
          </p:cNvPicPr>
          <p:nvPr/>
        </p:nvPicPr>
        <p:blipFill>
          <a:blip r:embed="rId4"/>
          <a:stretch>
            <a:fillRect/>
          </a:stretch>
        </p:blipFill>
        <p:spPr>
          <a:xfrm>
            <a:off x="638175" y="4293235"/>
            <a:ext cx="2727960" cy="1833245"/>
          </a:xfrm>
          <a:prstGeom prst="rect">
            <a:avLst/>
          </a:prstGeom>
        </p:spPr>
      </p:pic>
      <p:pic>
        <p:nvPicPr>
          <p:cNvPr id="9" name="Picture 8"/>
          <p:cNvPicPr>
            <a:picLocks noChangeAspect="1"/>
          </p:cNvPicPr>
          <p:nvPr/>
        </p:nvPicPr>
        <p:blipFill>
          <a:blip r:embed="rId5"/>
          <a:stretch>
            <a:fillRect/>
          </a:stretch>
        </p:blipFill>
        <p:spPr>
          <a:xfrm>
            <a:off x="4656455" y="4220845"/>
            <a:ext cx="2557780" cy="1787525"/>
          </a:xfrm>
          <a:prstGeom prst="rect">
            <a:avLst/>
          </a:prstGeom>
        </p:spPr>
      </p:pic>
      <p:pic>
        <p:nvPicPr>
          <p:cNvPr id="10" name="Picture 9"/>
          <p:cNvPicPr>
            <a:picLocks noChangeAspect="1"/>
          </p:cNvPicPr>
          <p:nvPr/>
        </p:nvPicPr>
        <p:blipFill>
          <a:blip r:embed="rId6"/>
          <a:stretch>
            <a:fillRect/>
          </a:stretch>
        </p:blipFill>
        <p:spPr>
          <a:xfrm>
            <a:off x="8400415" y="4220845"/>
            <a:ext cx="2724150" cy="1840230"/>
          </a:xfrm>
          <a:prstGeom prst="rect">
            <a:avLst/>
          </a:prstGeom>
        </p:spPr>
      </p:pic>
      <p:sp>
        <p:nvSpPr>
          <p:cNvPr id="8" name="Text Box 7"/>
          <p:cNvSpPr txBox="1"/>
          <p:nvPr/>
        </p:nvSpPr>
        <p:spPr>
          <a:xfrm>
            <a:off x="767080" y="946785"/>
            <a:ext cx="2870200" cy="394335"/>
          </a:xfrm>
          <a:prstGeom prst="rect">
            <a:avLst/>
          </a:prstGeom>
          <a:noFill/>
        </p:spPr>
        <p:txBody>
          <a:bodyPr wrap="square" rtlCol="0">
            <a:noAutofit/>
          </a:bodyPr>
          <a:p>
            <a:r>
              <a:rPr lang="en-IN" altLang="en-US" sz="1800" b="1" u="sng">
                <a:solidFill>
                  <a:srgbClr val="C00000"/>
                </a:solidFill>
              </a:rPr>
              <a:t>Table 1:Job Department</a:t>
            </a:r>
            <a:endParaRPr lang="en-IN" altLang="en-US" sz="1800" b="1" u="sng">
              <a:solidFill>
                <a:srgbClr val="C00000"/>
              </a:solidFill>
            </a:endParaRPr>
          </a:p>
        </p:txBody>
      </p:sp>
      <p:sp>
        <p:nvSpPr>
          <p:cNvPr id="12" name="Text Box 11"/>
          <p:cNvSpPr txBox="1"/>
          <p:nvPr/>
        </p:nvSpPr>
        <p:spPr>
          <a:xfrm>
            <a:off x="4799965" y="946785"/>
            <a:ext cx="3050540" cy="368300"/>
          </a:xfrm>
          <a:prstGeom prst="rect">
            <a:avLst/>
          </a:prstGeom>
          <a:noFill/>
        </p:spPr>
        <p:txBody>
          <a:bodyPr wrap="square" rtlCol="0">
            <a:spAutoFit/>
          </a:bodyPr>
          <a:p>
            <a:r>
              <a:rPr lang="en-IN" altLang="en-US" sz="1800" b="1" u="sng">
                <a:solidFill>
                  <a:srgbClr val="C00000"/>
                </a:solidFill>
              </a:rPr>
              <a:t>Table 2: Salary Bonus</a:t>
            </a:r>
            <a:endParaRPr lang="en-IN" altLang="en-US" sz="1800" b="1" u="sng">
              <a:solidFill>
                <a:srgbClr val="C00000"/>
              </a:solidFill>
            </a:endParaRPr>
          </a:p>
        </p:txBody>
      </p:sp>
      <p:sp>
        <p:nvSpPr>
          <p:cNvPr id="13" name="Text Box 12"/>
          <p:cNvSpPr txBox="1"/>
          <p:nvPr/>
        </p:nvSpPr>
        <p:spPr>
          <a:xfrm>
            <a:off x="8566785" y="977265"/>
            <a:ext cx="2334260" cy="368300"/>
          </a:xfrm>
          <a:prstGeom prst="rect">
            <a:avLst/>
          </a:prstGeom>
          <a:noFill/>
        </p:spPr>
        <p:txBody>
          <a:bodyPr wrap="square" rtlCol="0">
            <a:spAutoFit/>
          </a:bodyPr>
          <a:p>
            <a:r>
              <a:rPr lang="en-IN" altLang="en-US" sz="1800" b="1" u="sng">
                <a:solidFill>
                  <a:srgbClr val="C00000"/>
                </a:solidFill>
              </a:rPr>
              <a:t>Table 3:Employee</a:t>
            </a:r>
            <a:endParaRPr lang="en-IN" altLang="en-US" sz="1800" b="1" u="sng">
              <a:solidFill>
                <a:srgbClr val="C00000"/>
              </a:solidFill>
            </a:endParaRPr>
          </a:p>
        </p:txBody>
      </p:sp>
      <p:sp>
        <p:nvSpPr>
          <p:cNvPr id="14" name="Text Box 13"/>
          <p:cNvSpPr txBox="1"/>
          <p:nvPr/>
        </p:nvSpPr>
        <p:spPr>
          <a:xfrm>
            <a:off x="839470" y="3766185"/>
            <a:ext cx="2854960" cy="424815"/>
          </a:xfrm>
          <a:prstGeom prst="rect">
            <a:avLst/>
          </a:prstGeom>
          <a:noFill/>
        </p:spPr>
        <p:txBody>
          <a:bodyPr wrap="square" rtlCol="0">
            <a:noAutofit/>
          </a:bodyPr>
          <a:p>
            <a:r>
              <a:rPr lang="en-IN" altLang="en-US" sz="1800" b="1" u="sng">
                <a:solidFill>
                  <a:srgbClr val="C00000"/>
                </a:solidFill>
              </a:rPr>
              <a:t>Table 4:Qualification</a:t>
            </a:r>
            <a:endParaRPr lang="en-IN" altLang="en-US" sz="1800" b="1" u="sng">
              <a:solidFill>
                <a:srgbClr val="C00000"/>
              </a:solidFill>
            </a:endParaRPr>
          </a:p>
        </p:txBody>
      </p:sp>
      <p:sp>
        <p:nvSpPr>
          <p:cNvPr id="15" name="Text Box 14"/>
          <p:cNvSpPr txBox="1"/>
          <p:nvPr/>
        </p:nvSpPr>
        <p:spPr>
          <a:xfrm>
            <a:off x="4847590" y="3766185"/>
            <a:ext cx="2403475" cy="368300"/>
          </a:xfrm>
          <a:prstGeom prst="rect">
            <a:avLst/>
          </a:prstGeom>
          <a:noFill/>
        </p:spPr>
        <p:txBody>
          <a:bodyPr wrap="square" rtlCol="0">
            <a:spAutoFit/>
          </a:bodyPr>
          <a:p>
            <a:r>
              <a:rPr lang="en-IN" altLang="en-US" sz="1800" b="1" u="sng">
                <a:solidFill>
                  <a:srgbClr val="C00000"/>
                </a:solidFill>
              </a:rPr>
              <a:t>Table 5: Leaves</a:t>
            </a:r>
            <a:endParaRPr lang="en-IN" altLang="en-US" sz="1800" b="1" u="sng">
              <a:solidFill>
                <a:srgbClr val="C00000"/>
              </a:solidFill>
            </a:endParaRPr>
          </a:p>
        </p:txBody>
      </p:sp>
      <p:sp>
        <p:nvSpPr>
          <p:cNvPr id="16" name="Text Box 15"/>
          <p:cNvSpPr txBox="1"/>
          <p:nvPr/>
        </p:nvSpPr>
        <p:spPr>
          <a:xfrm>
            <a:off x="8904605" y="3766185"/>
            <a:ext cx="2037080" cy="368300"/>
          </a:xfrm>
          <a:prstGeom prst="rect">
            <a:avLst/>
          </a:prstGeom>
          <a:noFill/>
        </p:spPr>
        <p:txBody>
          <a:bodyPr wrap="square" rtlCol="0">
            <a:spAutoFit/>
          </a:bodyPr>
          <a:p>
            <a:r>
              <a:rPr lang="en-IN" altLang="en-US" sz="1800" b="1" u="sng">
                <a:solidFill>
                  <a:srgbClr val="C00000"/>
                </a:solidFill>
              </a:rPr>
              <a:t>Table 6: Payroll</a:t>
            </a:r>
            <a:endParaRPr lang="en-IN" altLang="en-US" sz="1800" b="1" u="sng">
              <a:solidFill>
                <a:srgbClr val="C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695960" y="260350"/>
            <a:ext cx="3013710" cy="902970"/>
          </a:xfrm>
        </p:spPr>
        <p:txBody>
          <a:bodyPr/>
          <a:p>
            <a:r>
              <a:rPr lang="en-US" altLang="en-IN" sz="2800" b="1" u="sng">
                <a:solidFill>
                  <a:srgbClr val="C00000"/>
                </a:solidFill>
                <a:latin typeface="Arial" panose="020B0604020202020204" pitchFamily="34" charset="0"/>
                <a:cs typeface="Arial" panose="020B0604020202020204" pitchFamily="34" charset="0"/>
              </a:rPr>
              <a:t>ER Diagram</a:t>
            </a:r>
            <a:endParaRPr lang="en-US" altLang="en-IN" sz="2800" b="1" u="sng">
              <a:solidFill>
                <a:srgbClr val="C00000"/>
              </a:solidFill>
              <a:latin typeface="Arial" panose="020B0604020202020204" pitchFamily="34" charset="0"/>
              <a:cs typeface="Arial" panose="020B0604020202020204" pitchFamily="34" charset="0"/>
            </a:endParaRPr>
          </a:p>
        </p:txBody>
      </p:sp>
      <p:pic>
        <p:nvPicPr>
          <p:cNvPr id="11" name="Picture 10"/>
          <p:cNvPicPr>
            <a:picLocks noChangeAspect="1"/>
          </p:cNvPicPr>
          <p:nvPr/>
        </p:nvPicPr>
        <p:blipFill>
          <a:blip r:embed="rId1"/>
          <a:stretch>
            <a:fillRect/>
          </a:stretch>
        </p:blipFill>
        <p:spPr>
          <a:xfrm>
            <a:off x="981075" y="1162685"/>
            <a:ext cx="10195560" cy="50698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767715" y="188595"/>
            <a:ext cx="4380865" cy="877570"/>
          </a:xfrm>
        </p:spPr>
        <p:txBody>
          <a:bodyPr/>
          <a:p>
            <a:r>
              <a:rPr lang="en-US" altLang="en-US" sz="2800" b="1" u="sng">
                <a:solidFill>
                  <a:srgbClr val="C00000"/>
                </a:solidFill>
                <a:latin typeface="Arial" panose="020B0604020202020204" pitchFamily="34" charset="0"/>
                <a:cs typeface="Arial" panose="020B0604020202020204" pitchFamily="34" charset="0"/>
              </a:rPr>
              <a:t>Cardinalities</a:t>
            </a:r>
            <a:endParaRPr lang="en-US" altLang="en-US" sz="2800" b="1" u="sng">
              <a:solidFill>
                <a:srgbClr val="C00000"/>
              </a:solidFill>
              <a:latin typeface="Arial" panose="020B0604020202020204" pitchFamily="34" charset="0"/>
              <a:cs typeface="Arial" panose="020B0604020202020204" pitchFamily="34" charset="0"/>
            </a:endParaRPr>
          </a:p>
        </p:txBody>
      </p:sp>
      <p:graphicFrame>
        <p:nvGraphicFramePr>
          <p:cNvPr id="4" name="Table 3"/>
          <p:cNvGraphicFramePr/>
          <p:nvPr>
            <p:custDataLst>
              <p:tags r:id="rId1"/>
            </p:custDataLst>
          </p:nvPr>
        </p:nvGraphicFramePr>
        <p:xfrm>
          <a:off x="1642110" y="1171575"/>
          <a:ext cx="7757160" cy="3771900"/>
        </p:xfrm>
        <a:graphic>
          <a:graphicData uri="http://schemas.openxmlformats.org/drawingml/2006/table">
            <a:tbl>
              <a:tblPr/>
              <a:tblGrid>
                <a:gridCol w="3926205"/>
                <a:gridCol w="3830955"/>
              </a:tblGrid>
              <a:tr h="419100">
                <a:tc>
                  <a:txBody>
                    <a:bodyPr/>
                    <a:p>
                      <a:pPr algn="ctr"/>
                      <a:r>
                        <a:rPr lang="en-US" altLang="zh-CN" sz="2000" b="1"/>
                        <a:t>Relationship</a:t>
                      </a:r>
                      <a:endParaRPr lang="en-US" altLang="zh-CN" sz="2000" b="1"/>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lang="en-US" altLang="zh-CN" sz="2000" b="1"/>
                        <a:t>Cardinality</a:t>
                      </a:r>
                      <a:endParaRPr lang="en-US" altLang="zh-CN" sz="2000" b="1"/>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19100">
                <a:tc>
                  <a:txBody>
                    <a:bodyPr/>
                    <a:p>
                      <a:r>
                        <a:rPr lang="en-US" altLang="zh-CN" sz="1400"/>
                        <a:t>JobDepartment → Employee</a:t>
                      </a:r>
                      <a:endParaRPr lang="en-US" altLang="zh-CN" sz="140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r>
                        <a:rPr lang="en-US" altLang="zh-CN" sz="1400"/>
                        <a:t>1 : Many (1:M)</a:t>
                      </a:r>
                      <a:endParaRPr lang="en-US" altLang="zh-CN" sz="140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19100">
                <a:tc>
                  <a:txBody>
                    <a:bodyPr/>
                    <a:p>
                      <a:r>
                        <a:rPr lang="en-US" altLang="zh-CN" sz="1400"/>
                        <a:t>JobDepartment → SalaryBonus</a:t>
                      </a:r>
                      <a:endParaRPr lang="en-US" altLang="zh-CN" sz="140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r>
                        <a:rPr lang="en-US" altLang="zh-CN" sz="1400"/>
                        <a:t>1 : Many (1:M)</a:t>
                      </a:r>
                      <a:endParaRPr lang="en-US" altLang="zh-CN" sz="140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19100">
                <a:tc>
                  <a:txBody>
                    <a:bodyPr/>
                    <a:p>
                      <a:r>
                        <a:rPr lang="en-US" altLang="zh-CN" sz="1400"/>
                        <a:t>JobDepartment → Qualification</a:t>
                      </a:r>
                      <a:endParaRPr lang="en-US" altLang="zh-CN" sz="140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r>
                        <a:rPr lang="en-US" altLang="zh-CN" sz="1400"/>
                        <a:t>1 : Many (1:M)</a:t>
                      </a:r>
                      <a:endParaRPr lang="en-US" altLang="zh-CN" sz="140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19100">
                <a:tc>
                  <a:txBody>
                    <a:bodyPr/>
                    <a:p>
                      <a:r>
                        <a:rPr lang="en-US" altLang="zh-CN" sz="1400"/>
                        <a:t>Employee → Qualification</a:t>
                      </a:r>
                      <a:endParaRPr lang="en-US" altLang="zh-CN" sz="140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r>
                        <a:rPr lang="en-US" altLang="zh-CN" sz="1400"/>
                        <a:t>1 : Many (1:M)</a:t>
                      </a:r>
                      <a:endParaRPr lang="en-US" altLang="zh-CN" sz="140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19100">
                <a:tc>
                  <a:txBody>
                    <a:bodyPr/>
                    <a:p>
                      <a:r>
                        <a:rPr lang="en-US" altLang="zh-CN" sz="1400"/>
                        <a:t>Employee → Payroll</a:t>
                      </a:r>
                      <a:endParaRPr lang="en-US" altLang="zh-CN" sz="140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r>
                        <a:rPr lang="en-US" altLang="zh-CN" sz="1400"/>
                        <a:t>1 : Many (1:M)</a:t>
                      </a:r>
                      <a:endParaRPr lang="en-US" altLang="zh-CN" sz="140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19100">
                <a:tc>
                  <a:txBody>
                    <a:bodyPr/>
                    <a:p>
                      <a:r>
                        <a:rPr lang="en-US" altLang="zh-CN" sz="1400"/>
                        <a:t>Employee → Leaves</a:t>
                      </a:r>
                      <a:endParaRPr lang="en-US" altLang="zh-CN" sz="140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endParaRPr lang="en-US" altLang="zh-CN" sz="1100"/>
                    </a:p>
                    <a:p>
                      <a:r>
                        <a:rPr lang="en-US" altLang="zh-CN" sz="1400"/>
                        <a:t>1 : Many (1:M)</a:t>
                      </a:r>
                      <a:endParaRPr lang="en-US" altLang="zh-CN" sz="140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19100">
                <a:tc>
                  <a:txBody>
                    <a:bodyPr/>
                    <a:p>
                      <a:r>
                        <a:rPr lang="en-US" altLang="zh-CN" sz="1400"/>
                        <a:t>SalaryBonus → Payroll</a:t>
                      </a:r>
                      <a:endParaRPr lang="en-US" altLang="zh-CN" sz="140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r>
                        <a:rPr lang="en-US" altLang="zh-CN" sz="1400"/>
                        <a:t>1 : Many (1:M)</a:t>
                      </a:r>
                      <a:endParaRPr lang="en-US" altLang="zh-CN" sz="140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19100">
                <a:tc>
                  <a:txBody>
                    <a:bodyPr/>
                    <a:p>
                      <a:r>
                        <a:rPr lang="en-US" altLang="zh-CN" sz="1400"/>
                        <a:t>Payroll → Leaves</a:t>
                      </a:r>
                      <a:endParaRPr lang="en-US" altLang="zh-CN" sz="140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r>
                        <a:rPr lang="en-US" altLang="zh-CN" sz="1400"/>
                        <a:t>1 : 1</a:t>
                      </a:r>
                      <a:endParaRPr lang="en-US" altLang="zh-CN" sz="140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263525" y="188595"/>
            <a:ext cx="9511030" cy="454660"/>
          </a:xfrm>
        </p:spPr>
        <p:txBody>
          <a:bodyPr>
            <a:normAutofit fontScale="90000"/>
          </a:bodyPr>
          <a:p>
            <a:r>
              <a:rPr lang="en-IN" altLang="en-US" sz="3110" b="1" u="sng">
                <a:solidFill>
                  <a:srgbClr val="C00000"/>
                </a:solidFill>
              </a:rPr>
              <a:t>Key Analysis Queries</a:t>
            </a:r>
            <a:endParaRPr lang="en-IN" altLang="en-US" sz="3110" b="1" u="sng">
              <a:solidFill>
                <a:srgbClr val="C00000"/>
              </a:solidFill>
            </a:endParaRPr>
          </a:p>
        </p:txBody>
      </p:sp>
      <p:sp>
        <p:nvSpPr>
          <p:cNvPr id="3" name="Text Placeholder 2"/>
          <p:cNvSpPr/>
          <p:nvPr>
            <p:ph type="body" idx="1"/>
          </p:nvPr>
        </p:nvSpPr>
        <p:spPr>
          <a:xfrm>
            <a:off x="545465" y="1340485"/>
            <a:ext cx="5934710" cy="4776470"/>
          </a:xfrm>
        </p:spPr>
        <p:txBody>
          <a:bodyPr>
            <a:noAutofit/>
          </a:bodyPr>
          <a:p>
            <a:pPr marL="114300" indent="0">
              <a:buNone/>
            </a:pPr>
            <a:r>
              <a:rPr lang="en-US" altLang="en-US" sz="1300">
                <a:latin typeface="Arial" panose="020B0604020202020204" pitchFamily="34" charset="0"/>
                <a:cs typeface="Arial" panose="020B0604020202020204" pitchFamily="34" charset="0"/>
              </a:rPr>
              <a:t>SELECT</a:t>
            </a:r>
            <a:endParaRPr lang="en-US" altLang="en-US" sz="1300">
              <a:latin typeface="Arial" panose="020B0604020202020204" pitchFamily="34" charset="0"/>
              <a:cs typeface="Arial" panose="020B0604020202020204" pitchFamily="34" charset="0"/>
            </a:endParaRPr>
          </a:p>
          <a:p>
            <a:pPr marL="114300" indent="0">
              <a:buNone/>
            </a:pPr>
            <a:r>
              <a:rPr lang="en-US" altLang="en-US" sz="1300">
                <a:latin typeface="Arial" panose="020B0604020202020204" pitchFamily="34" charset="0"/>
                <a:cs typeface="Arial" panose="020B0604020202020204" pitchFamily="34" charset="0"/>
              </a:rPr>
              <a:t>    jobdept AS department,</a:t>
            </a:r>
            <a:endParaRPr lang="en-US" altLang="en-US" sz="1300">
              <a:latin typeface="Arial" panose="020B0604020202020204" pitchFamily="34" charset="0"/>
              <a:cs typeface="Arial" panose="020B0604020202020204" pitchFamily="34" charset="0"/>
            </a:endParaRPr>
          </a:p>
          <a:p>
            <a:pPr marL="114300" indent="0">
              <a:buNone/>
            </a:pPr>
            <a:r>
              <a:rPr lang="en-US" altLang="en-US" sz="1300">
                <a:latin typeface="Arial" panose="020B0604020202020204" pitchFamily="34" charset="0"/>
                <a:cs typeface="Arial" panose="020B0604020202020204" pitchFamily="34" charset="0"/>
              </a:rPr>
              <a:t>    ROUND(</a:t>
            </a:r>
            <a:endParaRPr lang="en-US" altLang="en-US" sz="1300">
              <a:latin typeface="Arial" panose="020B0604020202020204" pitchFamily="34" charset="0"/>
              <a:cs typeface="Arial" panose="020B0604020202020204" pitchFamily="34" charset="0"/>
            </a:endParaRPr>
          </a:p>
          <a:p>
            <a:pPr marL="114300" indent="0">
              <a:buNone/>
            </a:pPr>
            <a:r>
              <a:rPr lang="en-US" altLang="en-US" sz="1300">
                <a:latin typeface="Arial" panose="020B0604020202020204" pitchFamily="34" charset="0"/>
                <a:cs typeface="Arial" panose="020B0604020202020204" pitchFamily="34" charset="0"/>
              </a:rPr>
              <a:t>        AVG(</a:t>
            </a:r>
            <a:endParaRPr lang="en-US" altLang="en-US" sz="1300">
              <a:latin typeface="Arial" panose="020B0604020202020204" pitchFamily="34" charset="0"/>
              <a:cs typeface="Arial" panose="020B0604020202020204" pitchFamily="34" charset="0"/>
            </a:endParaRPr>
          </a:p>
          <a:p>
            <a:pPr marL="114300" indent="0">
              <a:buNone/>
            </a:pPr>
            <a:r>
              <a:rPr lang="en-US" altLang="en-US" sz="1300">
                <a:latin typeface="Arial" panose="020B0604020202020204" pitchFamily="34" charset="0"/>
                <a:cs typeface="Arial" panose="020B0604020202020204" pitchFamily="34" charset="0"/>
              </a:rPr>
              <a:t>            (</a:t>
            </a:r>
            <a:endParaRPr lang="en-US" altLang="en-US" sz="1300">
              <a:latin typeface="Arial" panose="020B0604020202020204" pitchFamily="34" charset="0"/>
              <a:cs typeface="Arial" panose="020B0604020202020204" pitchFamily="34" charset="0"/>
            </a:endParaRPr>
          </a:p>
          <a:p>
            <a:pPr marL="114300" indent="0">
              <a:buNone/>
            </a:pPr>
            <a:r>
              <a:rPr lang="en-US" altLang="en-US" sz="1300">
                <a:latin typeface="Arial" panose="020B0604020202020204" pitchFamily="34" charset="0"/>
                <a:cs typeface="Arial" panose="020B0604020202020204" pitchFamily="34" charset="0"/>
              </a:rPr>
              <a:t>                CAST(REPLACE(SUBSTRING_INDEX(salaryrange, '-', -1), '$', '') AS DECIMAL(10,2))</a:t>
            </a:r>
            <a:endParaRPr lang="en-US" altLang="en-US" sz="1300">
              <a:latin typeface="Arial" panose="020B0604020202020204" pitchFamily="34" charset="0"/>
              <a:cs typeface="Arial" panose="020B0604020202020204" pitchFamily="34" charset="0"/>
            </a:endParaRPr>
          </a:p>
          <a:p>
            <a:pPr marL="114300" indent="0">
              <a:buNone/>
            </a:pPr>
            <a:r>
              <a:rPr lang="en-US" altLang="en-US" sz="1300">
                <a:latin typeface="Arial" panose="020B0604020202020204" pitchFamily="34" charset="0"/>
                <a:cs typeface="Arial" panose="020B0604020202020204" pitchFamily="34" charset="0"/>
              </a:rPr>
              <a:t>                -</a:t>
            </a:r>
            <a:endParaRPr lang="en-US" altLang="en-US" sz="1300">
              <a:latin typeface="Arial" panose="020B0604020202020204" pitchFamily="34" charset="0"/>
              <a:cs typeface="Arial" panose="020B0604020202020204" pitchFamily="34" charset="0"/>
            </a:endParaRPr>
          </a:p>
          <a:p>
            <a:pPr marL="114300" indent="0">
              <a:buNone/>
            </a:pPr>
            <a:r>
              <a:rPr lang="en-US" altLang="en-US" sz="1300">
                <a:latin typeface="Arial" panose="020B0604020202020204" pitchFamily="34" charset="0"/>
                <a:cs typeface="Arial" panose="020B0604020202020204" pitchFamily="34" charset="0"/>
              </a:rPr>
              <a:t>                CAST(REPLACE(SUBSTRING_INDEX(salaryrange, '-', 1), '$', '') AS DECIMAL(10,2))</a:t>
            </a:r>
            <a:endParaRPr lang="en-US" altLang="en-US" sz="1300">
              <a:latin typeface="Arial" panose="020B0604020202020204" pitchFamily="34" charset="0"/>
              <a:cs typeface="Arial" panose="020B0604020202020204" pitchFamily="34" charset="0"/>
            </a:endParaRPr>
          </a:p>
          <a:p>
            <a:pPr marL="114300" indent="0">
              <a:buNone/>
            </a:pPr>
            <a:r>
              <a:rPr lang="en-US" altLang="en-US" sz="1300">
                <a:latin typeface="Arial" panose="020B0604020202020204" pitchFamily="34" charset="0"/>
                <a:cs typeface="Arial" panose="020B0604020202020204" pitchFamily="34" charset="0"/>
              </a:rPr>
              <a:t>            )</a:t>
            </a:r>
            <a:endParaRPr lang="en-US" altLang="en-US" sz="1300">
              <a:latin typeface="Arial" panose="020B0604020202020204" pitchFamily="34" charset="0"/>
              <a:cs typeface="Arial" panose="020B0604020202020204" pitchFamily="34" charset="0"/>
            </a:endParaRPr>
          </a:p>
          <a:p>
            <a:pPr marL="114300" indent="0">
              <a:buNone/>
            </a:pPr>
            <a:r>
              <a:rPr lang="en-US" altLang="en-US" sz="1300">
                <a:latin typeface="Arial" panose="020B0604020202020204" pitchFamily="34" charset="0"/>
                <a:cs typeface="Arial" panose="020B0604020202020204" pitchFamily="34" charset="0"/>
              </a:rPr>
              <a:t>        ), 2</a:t>
            </a:r>
            <a:endParaRPr lang="en-US" altLang="en-US" sz="1300">
              <a:latin typeface="Arial" panose="020B0604020202020204" pitchFamily="34" charset="0"/>
              <a:cs typeface="Arial" panose="020B0604020202020204" pitchFamily="34" charset="0"/>
            </a:endParaRPr>
          </a:p>
          <a:p>
            <a:pPr marL="114300" indent="0">
              <a:buNone/>
            </a:pPr>
            <a:r>
              <a:rPr lang="en-US" altLang="en-US" sz="1300">
                <a:latin typeface="Arial" panose="020B0604020202020204" pitchFamily="34" charset="0"/>
                <a:cs typeface="Arial" panose="020B0604020202020204" pitchFamily="34" charset="0"/>
              </a:rPr>
              <a:t>    ) AS average_salary_range</a:t>
            </a:r>
            <a:endParaRPr lang="en-US" altLang="en-US" sz="1300">
              <a:latin typeface="Arial" panose="020B0604020202020204" pitchFamily="34" charset="0"/>
              <a:cs typeface="Arial" panose="020B0604020202020204" pitchFamily="34" charset="0"/>
            </a:endParaRPr>
          </a:p>
          <a:p>
            <a:pPr marL="114300" indent="0">
              <a:buNone/>
            </a:pPr>
            <a:r>
              <a:rPr lang="en-US" altLang="en-US" sz="1300">
                <a:latin typeface="Arial" panose="020B0604020202020204" pitchFamily="34" charset="0"/>
                <a:cs typeface="Arial" panose="020B0604020202020204" pitchFamily="34" charset="0"/>
              </a:rPr>
              <a:t>FROM JobDepartment</a:t>
            </a:r>
            <a:endParaRPr lang="en-US" altLang="en-US" sz="1300">
              <a:latin typeface="Arial" panose="020B0604020202020204" pitchFamily="34" charset="0"/>
              <a:cs typeface="Arial" panose="020B0604020202020204" pitchFamily="34" charset="0"/>
            </a:endParaRPr>
          </a:p>
          <a:p>
            <a:pPr marL="114300" indent="0">
              <a:buNone/>
            </a:pPr>
            <a:r>
              <a:rPr lang="en-US" altLang="en-US" sz="1300">
                <a:latin typeface="Arial" panose="020B0604020202020204" pitchFamily="34" charset="0"/>
                <a:cs typeface="Arial" panose="020B0604020202020204" pitchFamily="34" charset="0"/>
              </a:rPr>
              <a:t>GROUP BY jobdept</a:t>
            </a:r>
            <a:endParaRPr lang="en-US" altLang="en-US" sz="1300">
              <a:latin typeface="Arial" panose="020B0604020202020204" pitchFamily="34" charset="0"/>
              <a:cs typeface="Arial" panose="020B0604020202020204" pitchFamily="34" charset="0"/>
            </a:endParaRPr>
          </a:p>
          <a:p>
            <a:pPr marL="114300" indent="0">
              <a:buNone/>
            </a:pPr>
            <a:r>
              <a:rPr lang="en-US" altLang="en-US" sz="1300">
                <a:latin typeface="Arial" panose="020B0604020202020204" pitchFamily="34" charset="0"/>
                <a:cs typeface="Arial" panose="020B0604020202020204" pitchFamily="34" charset="0"/>
              </a:rPr>
              <a:t>ORDER BY average_salary_range DESC;</a:t>
            </a:r>
            <a:endParaRPr lang="en-US" altLang="en-US" sz="1300">
              <a:latin typeface="Arial" panose="020B0604020202020204" pitchFamily="34" charset="0"/>
              <a:cs typeface="Arial" panose="020B0604020202020204" pitchFamily="34" charset="0"/>
            </a:endParaRPr>
          </a:p>
        </p:txBody>
      </p:sp>
      <p:sp>
        <p:nvSpPr>
          <p:cNvPr id="4" name="Title 1"/>
          <p:cNvSpPr/>
          <p:nvPr/>
        </p:nvSpPr>
        <p:spPr>
          <a:xfrm>
            <a:off x="551815" y="836930"/>
            <a:ext cx="9511030" cy="382270"/>
          </a:xfrm>
          <a:prstGeom prst="rect">
            <a:avLst/>
          </a:prstGeom>
          <a:noFill/>
          <a:ln>
            <a:noFill/>
          </a:ln>
        </p:spPr>
        <p:txBody>
          <a:bodyPr wrap="square" lIns="91425" tIns="45700" rIns="91425" bIns="45700" anchor="ctr" anchorCtr="0">
            <a:normAutofit fontScale="25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en-IN" altLang="en-US" sz="8000">
                <a:solidFill>
                  <a:schemeClr val="tx1">
                    <a:lumMod val="95000"/>
                    <a:lumOff val="5000"/>
                  </a:schemeClr>
                </a:solidFill>
              </a:rPr>
              <a:t>1</a:t>
            </a:r>
            <a:r>
              <a:rPr lang="en-IN" altLang="en-US">
                <a:solidFill>
                  <a:srgbClr val="C00000"/>
                </a:solidFill>
              </a:rPr>
              <a:t>.</a:t>
            </a:r>
            <a:r>
              <a:rPr lang="en-IN" altLang="en-US" sz="8000">
                <a:solidFill>
                  <a:srgbClr val="C00000"/>
                </a:solidFill>
              </a:rPr>
              <a:t>  </a:t>
            </a:r>
            <a:r>
              <a:rPr lang="en-US" altLang="zh-CN" sz="8000" b="1">
                <a:solidFill>
                  <a:schemeClr val="tx1"/>
                </a:solidFill>
                <a:latin typeface="Arial" panose="020B0604020202020204" pitchFamily="34" charset="0"/>
                <a:ea typeface="gg sans"/>
                <a:cs typeface="Arial" panose="020B0604020202020204" pitchFamily="34" charset="0"/>
                <a:sym typeface="+mn-ea"/>
              </a:rPr>
              <a:t>What is the average salary range per department?</a:t>
            </a:r>
            <a:endParaRPr lang="en-US" altLang="zh-CN" b="1" i="0">
              <a:solidFill>
                <a:schemeClr val="tx1"/>
              </a:solidFill>
              <a:latin typeface="Arial" panose="020B0604020202020204" pitchFamily="34" charset="0"/>
              <a:ea typeface="gg sans"/>
              <a:cs typeface="Arial" panose="020B0604020202020204" pitchFamily="34" charset="0"/>
            </a:endParaRPr>
          </a:p>
          <a:p>
            <a:r>
              <a:rPr lang="en-IN" altLang="en-US">
                <a:solidFill>
                  <a:srgbClr val="C00000"/>
                </a:solidFill>
              </a:rPr>
              <a:t> </a:t>
            </a:r>
            <a:endParaRPr lang="en-IN" altLang="en-US">
              <a:solidFill>
                <a:srgbClr val="C00000"/>
              </a:solidFill>
            </a:endParaRPr>
          </a:p>
        </p:txBody>
      </p:sp>
      <p:sp>
        <p:nvSpPr>
          <p:cNvPr id="6" name="Text Box 5"/>
          <p:cNvSpPr txBox="1"/>
          <p:nvPr/>
        </p:nvSpPr>
        <p:spPr>
          <a:xfrm>
            <a:off x="5448300" y="5372735"/>
            <a:ext cx="5584825" cy="334010"/>
          </a:xfrm>
          <a:prstGeom prst="rect">
            <a:avLst/>
          </a:prstGeom>
        </p:spPr>
        <p:txBody>
          <a:bodyPr>
            <a:noAutofit/>
          </a:bodyPr>
          <a:p>
            <a:pPr marL="0" indent="0" fontAlgn="base">
              <a:lnSpc>
                <a:spcPts val="1445"/>
              </a:lnSpc>
              <a:spcBef>
                <a:spcPct val="0"/>
              </a:spcBef>
              <a:spcAft>
                <a:spcPct val="0"/>
              </a:spcAft>
            </a:pPr>
            <a:endParaRPr lang="en-US" altLang="zh-CN" sz="2000" b="1" i="0">
              <a:solidFill>
                <a:schemeClr val="tx1"/>
              </a:solidFill>
              <a:latin typeface="Arial" panose="020B0604020202020204" pitchFamily="34" charset="0"/>
              <a:ea typeface="gg sans"/>
              <a:cs typeface="Arial" panose="020B0604020202020204" pitchFamily="34" charset="0"/>
            </a:endParaRPr>
          </a:p>
        </p:txBody>
      </p:sp>
      <p:pic>
        <p:nvPicPr>
          <p:cNvPr id="8" name="Picture 7" descr="1"/>
          <p:cNvPicPr>
            <a:picLocks noChangeAspect="1"/>
          </p:cNvPicPr>
          <p:nvPr/>
        </p:nvPicPr>
        <p:blipFill>
          <a:blip r:embed="rId1"/>
          <a:stretch>
            <a:fillRect/>
          </a:stretch>
        </p:blipFill>
        <p:spPr>
          <a:xfrm>
            <a:off x="7078980" y="836930"/>
            <a:ext cx="4714875" cy="2490470"/>
          </a:xfrm>
          <a:prstGeom prst="rect">
            <a:avLst/>
          </a:prstGeom>
        </p:spPr>
      </p:pic>
      <p:sp>
        <p:nvSpPr>
          <p:cNvPr id="10" name="Rounded Rectangle 9"/>
          <p:cNvSpPr/>
          <p:nvPr/>
        </p:nvSpPr>
        <p:spPr>
          <a:xfrm>
            <a:off x="7078345" y="3860800"/>
            <a:ext cx="4714875" cy="2007870"/>
          </a:xfrm>
          <a:prstGeom prst="roundRect">
            <a:avLst/>
          </a:prstGeom>
          <a:solidFill>
            <a:schemeClr val="accent1">
              <a:lumMod val="20000"/>
              <a:lumOff val="80000"/>
            </a:schemeClr>
          </a:solidFill>
          <a:ln>
            <a:gradFill>
              <a:gsLst>
                <a:gs pos="50000">
                  <a:schemeClr val="tx1"/>
                </a:gs>
                <a:gs pos="0">
                  <a:schemeClr val="tx1">
                    <a:lumMod val="25000"/>
                    <a:lumOff val="75000"/>
                  </a:schemeClr>
                </a:gs>
                <a:gs pos="100000">
                  <a:schemeClr val="tx1">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10000"/>
              </a:lnSpc>
            </a:pPr>
            <a:endParaRPr lang="en-IN" altLang="en-US" sz="1800" b="1">
              <a:solidFill>
                <a:schemeClr val="tx1">
                  <a:lumMod val="95000"/>
                  <a:lumOff val="5000"/>
                </a:schemeClr>
              </a:solidFill>
              <a:latin typeface="Lucida Sans" panose="020B0602030504020204" charset="0"/>
              <a:cs typeface="Lucida Sans" panose="020B0602030504020204" charset="0"/>
            </a:endParaRPr>
          </a:p>
          <a:p>
            <a:pPr algn="ctr">
              <a:lnSpc>
                <a:spcPct val="110000"/>
              </a:lnSpc>
            </a:pPr>
            <a:endParaRPr lang="en-IN" altLang="en-US" sz="1800" b="1">
              <a:solidFill>
                <a:schemeClr val="tx1">
                  <a:lumMod val="95000"/>
                  <a:lumOff val="5000"/>
                </a:schemeClr>
              </a:solidFill>
              <a:latin typeface="Lucida Sans" panose="020B0602030504020204" charset="0"/>
              <a:cs typeface="Lucida Sans" panose="020B0602030504020204" charset="0"/>
            </a:endParaRPr>
          </a:p>
          <a:p>
            <a:pPr algn="ctr">
              <a:lnSpc>
                <a:spcPct val="110000"/>
              </a:lnSpc>
            </a:pPr>
            <a:r>
              <a:rPr lang="en-IN" altLang="en-US" sz="1800" b="1">
                <a:solidFill>
                  <a:schemeClr val="tx1">
                    <a:lumMod val="95000"/>
                    <a:lumOff val="5000"/>
                  </a:schemeClr>
                </a:solidFill>
                <a:latin typeface="Lucida Sans" panose="020B0602030504020204" charset="0"/>
                <a:cs typeface="Lucida Sans" panose="020B0602030504020204" charset="0"/>
              </a:rPr>
              <a:t>Insights</a:t>
            </a:r>
            <a:r>
              <a:rPr lang="en-IN" altLang="en-US" sz="1800">
                <a:solidFill>
                  <a:schemeClr val="tx1">
                    <a:lumMod val="95000"/>
                    <a:lumOff val="5000"/>
                  </a:schemeClr>
                </a:solidFill>
              </a:rPr>
              <a:t>:  </a:t>
            </a:r>
            <a:r>
              <a:rPr lang="en-US" altLang="en-US" sz="1800">
                <a:solidFill>
                  <a:schemeClr val="tx1">
                    <a:lumMod val="95000"/>
                    <a:lumOff val="5000"/>
                  </a:schemeClr>
                </a:solidFill>
              </a:rPr>
              <a:t>The query calculates the average salary range (maximum salary − minimum salary) for each department and ranks departments from highest to lowest</a:t>
            </a:r>
            <a:r>
              <a:rPr lang="en-IN" altLang="en-US" sz="1800">
                <a:solidFill>
                  <a:schemeClr val="tx1">
                    <a:lumMod val="95000"/>
                    <a:lumOff val="5000"/>
                  </a:schemeClr>
                </a:solidFill>
              </a:rPr>
              <a:t>.</a:t>
            </a:r>
            <a:endParaRPr lang="en-IN" altLang="en-US" sz="1800">
              <a:solidFill>
                <a:schemeClr val="tx1">
                  <a:lumMod val="95000"/>
                  <a:lumOff val="5000"/>
                </a:schemeClr>
              </a:solidFill>
            </a:endParaRPr>
          </a:p>
          <a:p>
            <a:pPr algn="ctr"/>
            <a:endParaRPr lang="en-IN" altLang="en-US">
              <a:solidFill>
                <a:schemeClr val="tx1">
                  <a:lumMod val="95000"/>
                  <a:lumOff val="5000"/>
                </a:schemeClr>
              </a:solidFill>
            </a:endParaRPr>
          </a:p>
          <a:p>
            <a:pPr algn="ctr"/>
            <a:endParaRPr lang="en-IN" altLang="en-US">
              <a:solidFill>
                <a:schemeClr val="tx1">
                  <a:lumMod val="95000"/>
                  <a:lumOff val="5000"/>
                </a:schemeClr>
              </a:solidFill>
            </a:endParaRPr>
          </a:p>
          <a:p>
            <a:pPr algn="ctr"/>
            <a:endParaRPr lang="en-IN" altLang="en-US">
              <a:solidFill>
                <a:schemeClr val="tx1">
                  <a:lumMod val="95000"/>
                  <a:lumOff val="5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263525" y="188595"/>
            <a:ext cx="9511030" cy="454660"/>
          </a:xfrm>
        </p:spPr>
        <p:txBody>
          <a:bodyPr>
            <a:normAutofit fontScale="90000"/>
          </a:bodyPr>
          <a:p>
            <a:r>
              <a:rPr lang="en-IN" altLang="en-US" sz="3110" b="1" u="sng">
                <a:solidFill>
                  <a:srgbClr val="C00000"/>
                </a:solidFill>
              </a:rPr>
              <a:t>Key Analysis Queries</a:t>
            </a:r>
            <a:endParaRPr lang="en-IN" altLang="en-US" sz="3110" b="1" u="sng">
              <a:solidFill>
                <a:srgbClr val="C00000"/>
              </a:solidFill>
            </a:endParaRPr>
          </a:p>
        </p:txBody>
      </p:sp>
      <p:sp>
        <p:nvSpPr>
          <p:cNvPr id="3" name="Text Placeholder 2"/>
          <p:cNvSpPr/>
          <p:nvPr>
            <p:ph type="body" idx="1"/>
          </p:nvPr>
        </p:nvSpPr>
        <p:spPr>
          <a:xfrm>
            <a:off x="545465" y="1340485"/>
            <a:ext cx="5934710" cy="4776470"/>
          </a:xfrm>
        </p:spPr>
        <p:txBody>
          <a:bodyPr>
            <a:noAutofit/>
          </a:bodyPr>
          <a:p>
            <a:pPr marL="114300" indent="0">
              <a:lnSpc>
                <a:spcPct val="210000"/>
              </a:lnSpc>
              <a:buNone/>
            </a:pPr>
            <a:r>
              <a:rPr lang="en-US" altLang="en-US" sz="1300">
                <a:latin typeface="Arial" panose="020B0604020202020204" pitchFamily="34" charset="0"/>
                <a:cs typeface="Arial" panose="020B0604020202020204" pitchFamily="34" charset="0"/>
              </a:rPr>
              <a:t>SELECT CONCAT(E.FIRSTNAME, ' ', E.LASTNAME) AS EMP_NAME, JD.JOBDEPT AS JOB_DEPT, S.AMOUNT  AS HIGHEST_PAID_EMP</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FROM EMPLOYEE E</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JOIN JOBDEPARTMENT AS JD</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ON E.JOB_ID = JD.JOB_ID</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JOIN SALARYBONUS AS S</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ON JD.JOB_ID = S.JOB_ID</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ORDER BY HIGHEST_PAID_EMP DESC</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LIMIT 5;</a:t>
            </a:r>
            <a:endParaRPr lang="en-US" altLang="en-US" sz="1300">
              <a:latin typeface="Arial" panose="020B0604020202020204" pitchFamily="34" charset="0"/>
              <a:cs typeface="Arial" panose="020B0604020202020204" pitchFamily="34" charset="0"/>
            </a:endParaRPr>
          </a:p>
        </p:txBody>
      </p:sp>
      <p:sp>
        <p:nvSpPr>
          <p:cNvPr id="4" name="Title 1"/>
          <p:cNvSpPr/>
          <p:nvPr/>
        </p:nvSpPr>
        <p:spPr>
          <a:xfrm>
            <a:off x="551815" y="764540"/>
            <a:ext cx="9511030" cy="454660"/>
          </a:xfrm>
          <a:prstGeom prst="rect">
            <a:avLst/>
          </a:prstGeom>
          <a:noFill/>
          <a:ln>
            <a:noFill/>
          </a:ln>
        </p:spPr>
        <p:txBody>
          <a:bodyPr wrap="square" lIns="91425" tIns="45700" rIns="91425" bIns="45700" anchor="ctr" anchorCtr="0">
            <a:normAutofit fontScale="25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en-IN" altLang="en-US" sz="8000" b="1">
                <a:solidFill>
                  <a:schemeClr val="tx1">
                    <a:lumMod val="95000"/>
                    <a:lumOff val="5000"/>
                  </a:schemeClr>
                </a:solidFill>
                <a:latin typeface="Arial" panose="020B0604020202020204" pitchFamily="34" charset="0"/>
                <a:cs typeface="Arial" panose="020B0604020202020204" pitchFamily="34" charset="0"/>
              </a:rPr>
              <a:t>2.</a:t>
            </a:r>
            <a:r>
              <a:rPr lang="en-IN" altLang="en-US" sz="8000" b="1">
                <a:solidFill>
                  <a:schemeClr val="tx1">
                    <a:lumMod val="95000"/>
                    <a:lumOff val="5000"/>
                  </a:schemeClr>
                </a:solidFill>
                <a:latin typeface="Arial" panose="020B0604020202020204" pitchFamily="34" charset="0"/>
                <a:cs typeface="Arial" panose="020B0604020202020204" pitchFamily="34" charset="0"/>
              </a:rPr>
              <a:t>  </a:t>
            </a:r>
            <a:r>
              <a:rPr lang="en-US" altLang="en-US" sz="8000" b="1">
                <a:solidFill>
                  <a:schemeClr val="tx1">
                    <a:lumMod val="95000"/>
                    <a:lumOff val="5000"/>
                  </a:schemeClr>
                </a:solidFill>
                <a:latin typeface="Arial" panose="020B0604020202020204" pitchFamily="34" charset="0"/>
                <a:cs typeface="Arial" panose="020B0604020202020204" pitchFamily="34" charset="0"/>
              </a:rPr>
              <a:t>Who are the top 5 highest-paid employees?</a:t>
            </a:r>
            <a:r>
              <a:rPr lang="en-IN" altLang="en-US" b="1">
                <a:solidFill>
                  <a:schemeClr val="tx1">
                    <a:lumMod val="95000"/>
                    <a:lumOff val="5000"/>
                  </a:schemeClr>
                </a:solidFill>
                <a:latin typeface="Arial" panose="020B0604020202020204" pitchFamily="34" charset="0"/>
                <a:cs typeface="Arial" panose="020B0604020202020204" pitchFamily="34" charset="0"/>
              </a:rPr>
              <a:t> </a:t>
            </a:r>
            <a:endParaRPr lang="en-IN" altLang="en-US" b="1">
              <a:solidFill>
                <a:schemeClr val="tx1">
                  <a:lumMod val="95000"/>
                  <a:lumOff val="5000"/>
                </a:schemeClr>
              </a:solidFill>
              <a:latin typeface="Arial" panose="020B0604020202020204" pitchFamily="34" charset="0"/>
              <a:cs typeface="Arial" panose="020B0604020202020204" pitchFamily="34" charset="0"/>
            </a:endParaRPr>
          </a:p>
        </p:txBody>
      </p:sp>
      <p:sp>
        <p:nvSpPr>
          <p:cNvPr id="6" name="Text Box 5"/>
          <p:cNvSpPr txBox="1"/>
          <p:nvPr/>
        </p:nvSpPr>
        <p:spPr>
          <a:xfrm>
            <a:off x="5448300" y="5372735"/>
            <a:ext cx="5584825" cy="334010"/>
          </a:xfrm>
          <a:prstGeom prst="rect">
            <a:avLst/>
          </a:prstGeom>
        </p:spPr>
        <p:txBody>
          <a:bodyPr>
            <a:noAutofit/>
          </a:bodyPr>
          <a:p>
            <a:pPr marL="0" indent="0" fontAlgn="base">
              <a:lnSpc>
                <a:spcPts val="1445"/>
              </a:lnSpc>
              <a:spcBef>
                <a:spcPct val="0"/>
              </a:spcBef>
              <a:spcAft>
                <a:spcPct val="0"/>
              </a:spcAft>
            </a:pPr>
            <a:endParaRPr lang="en-US" altLang="zh-CN" sz="2000" b="1" i="0">
              <a:solidFill>
                <a:schemeClr val="tx1"/>
              </a:solidFill>
              <a:latin typeface="Arial" panose="020B0604020202020204" pitchFamily="34" charset="0"/>
              <a:ea typeface="gg sans"/>
              <a:cs typeface="Arial" panose="020B0604020202020204" pitchFamily="34" charset="0"/>
            </a:endParaRPr>
          </a:p>
        </p:txBody>
      </p:sp>
      <p:sp>
        <p:nvSpPr>
          <p:cNvPr id="10" name="Rounded Rectangle 9"/>
          <p:cNvSpPr/>
          <p:nvPr/>
        </p:nvSpPr>
        <p:spPr>
          <a:xfrm>
            <a:off x="7078345" y="3860800"/>
            <a:ext cx="4714875" cy="2007870"/>
          </a:xfrm>
          <a:prstGeom prst="roundRect">
            <a:avLst/>
          </a:prstGeom>
          <a:solidFill>
            <a:schemeClr val="accent1">
              <a:lumMod val="20000"/>
              <a:lumOff val="80000"/>
            </a:schemeClr>
          </a:solidFill>
          <a:ln>
            <a:gradFill>
              <a:gsLst>
                <a:gs pos="50000">
                  <a:schemeClr val="tx1"/>
                </a:gs>
                <a:gs pos="0">
                  <a:schemeClr val="tx1">
                    <a:lumMod val="25000"/>
                    <a:lumOff val="75000"/>
                  </a:schemeClr>
                </a:gs>
                <a:gs pos="100000">
                  <a:schemeClr val="tx1">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10000"/>
              </a:lnSpc>
            </a:pPr>
            <a:endParaRPr lang="en-IN" altLang="en-US" sz="1800" b="1">
              <a:solidFill>
                <a:schemeClr val="tx1">
                  <a:lumMod val="95000"/>
                  <a:lumOff val="5000"/>
                </a:schemeClr>
              </a:solidFill>
              <a:latin typeface="Lucida Sans" panose="020B0602030504020204" charset="0"/>
              <a:cs typeface="Lucida Sans" panose="020B0602030504020204" charset="0"/>
            </a:endParaRPr>
          </a:p>
          <a:p>
            <a:pPr algn="ctr">
              <a:lnSpc>
                <a:spcPct val="110000"/>
              </a:lnSpc>
            </a:pPr>
            <a:endParaRPr lang="en-IN" altLang="en-US" sz="1800" b="1">
              <a:solidFill>
                <a:schemeClr val="tx1">
                  <a:lumMod val="95000"/>
                  <a:lumOff val="5000"/>
                </a:schemeClr>
              </a:solidFill>
              <a:latin typeface="Lucida Sans" panose="020B0602030504020204" charset="0"/>
              <a:cs typeface="Lucida Sans" panose="020B0602030504020204" charset="0"/>
            </a:endParaRPr>
          </a:p>
          <a:p>
            <a:pPr algn="ctr">
              <a:lnSpc>
                <a:spcPct val="110000"/>
              </a:lnSpc>
            </a:pPr>
            <a:r>
              <a:rPr lang="en-IN" altLang="en-US" sz="1800" b="1">
                <a:solidFill>
                  <a:schemeClr val="tx1">
                    <a:lumMod val="95000"/>
                    <a:lumOff val="5000"/>
                  </a:schemeClr>
                </a:solidFill>
                <a:latin typeface="Lucida Sans" panose="020B0602030504020204" charset="0"/>
                <a:cs typeface="Lucida Sans" panose="020B0602030504020204" charset="0"/>
              </a:rPr>
              <a:t>Insights</a:t>
            </a:r>
            <a:r>
              <a:rPr lang="en-IN" altLang="en-US" sz="1800">
                <a:solidFill>
                  <a:schemeClr val="tx1">
                    <a:lumMod val="95000"/>
                    <a:lumOff val="5000"/>
                  </a:schemeClr>
                </a:solidFill>
              </a:rPr>
              <a:t>:  </a:t>
            </a:r>
            <a:r>
              <a:rPr lang="en-US" altLang="en-US" sz="1800">
                <a:solidFill>
                  <a:schemeClr val="tx1">
                    <a:lumMod val="95000"/>
                    <a:lumOff val="5000"/>
                  </a:schemeClr>
                </a:solidFill>
              </a:rPr>
              <a:t>The query identifies the top 5 highest-paid employees by salary amount. It displays their name, job department, and salary, with results sorted from highest to lowest salary.</a:t>
            </a:r>
            <a:endParaRPr lang="en-US" altLang="en-US" sz="1800">
              <a:solidFill>
                <a:schemeClr val="tx1">
                  <a:lumMod val="95000"/>
                  <a:lumOff val="5000"/>
                </a:schemeClr>
              </a:solidFill>
            </a:endParaRPr>
          </a:p>
          <a:p>
            <a:pPr algn="ctr"/>
            <a:endParaRPr lang="en-IN" altLang="en-US">
              <a:solidFill>
                <a:schemeClr val="tx1">
                  <a:lumMod val="95000"/>
                  <a:lumOff val="5000"/>
                </a:schemeClr>
              </a:solidFill>
            </a:endParaRPr>
          </a:p>
          <a:p>
            <a:pPr algn="ctr"/>
            <a:endParaRPr lang="en-IN" altLang="en-US">
              <a:solidFill>
                <a:schemeClr val="tx1">
                  <a:lumMod val="95000"/>
                  <a:lumOff val="5000"/>
                </a:schemeClr>
              </a:solidFill>
            </a:endParaRPr>
          </a:p>
          <a:p>
            <a:pPr algn="ctr"/>
            <a:endParaRPr lang="en-IN" altLang="en-US">
              <a:solidFill>
                <a:schemeClr val="tx1">
                  <a:lumMod val="95000"/>
                  <a:lumOff val="5000"/>
                </a:schemeClr>
              </a:solidFill>
            </a:endParaRPr>
          </a:p>
        </p:txBody>
      </p:sp>
      <p:pic>
        <p:nvPicPr>
          <p:cNvPr id="5" name="Picture 4" descr="2"/>
          <p:cNvPicPr>
            <a:picLocks noChangeAspect="1"/>
          </p:cNvPicPr>
          <p:nvPr/>
        </p:nvPicPr>
        <p:blipFill>
          <a:blip r:embed="rId1"/>
          <a:stretch>
            <a:fillRect/>
          </a:stretch>
        </p:blipFill>
        <p:spPr>
          <a:xfrm>
            <a:off x="7078980" y="908685"/>
            <a:ext cx="4594225" cy="24752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263525" y="188595"/>
            <a:ext cx="9511030" cy="454660"/>
          </a:xfrm>
        </p:spPr>
        <p:txBody>
          <a:bodyPr>
            <a:normAutofit fontScale="90000"/>
          </a:bodyPr>
          <a:p>
            <a:r>
              <a:rPr lang="en-IN" altLang="en-US" sz="3110" b="1" u="sng">
                <a:solidFill>
                  <a:srgbClr val="C00000"/>
                </a:solidFill>
              </a:rPr>
              <a:t>Key Analysis Queries</a:t>
            </a:r>
            <a:endParaRPr lang="en-IN" altLang="en-US" sz="3110" b="1" u="sng">
              <a:solidFill>
                <a:srgbClr val="C00000"/>
              </a:solidFill>
            </a:endParaRPr>
          </a:p>
        </p:txBody>
      </p:sp>
      <p:sp>
        <p:nvSpPr>
          <p:cNvPr id="3" name="Text Placeholder 2"/>
          <p:cNvSpPr/>
          <p:nvPr>
            <p:ph type="body" idx="1"/>
          </p:nvPr>
        </p:nvSpPr>
        <p:spPr>
          <a:xfrm>
            <a:off x="545465" y="1340485"/>
            <a:ext cx="5934710" cy="4776470"/>
          </a:xfrm>
        </p:spPr>
        <p:txBody>
          <a:bodyPr>
            <a:noAutofit/>
          </a:bodyPr>
          <a:p>
            <a:pPr marL="114300" indent="0">
              <a:lnSpc>
                <a:spcPct val="210000"/>
              </a:lnSpc>
              <a:buNone/>
            </a:pPr>
            <a:r>
              <a:rPr lang="en-US" altLang="en-US" sz="1300">
                <a:latin typeface="Arial" panose="020B0604020202020204" pitchFamily="34" charset="0"/>
                <a:cs typeface="Arial" panose="020B0604020202020204" pitchFamily="34" charset="0"/>
              </a:rPr>
              <a:t>SELECT POSITION,</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COUNT(QUALID) AS QUALIFICATION_COUNT</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FROM QUALIFICATION</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GROUP BY POSITION</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ORDER BY QUALIFICATION_COUNT DESC;</a:t>
            </a:r>
            <a:endParaRPr lang="en-US" altLang="en-US" sz="1300">
              <a:latin typeface="Arial" panose="020B0604020202020204" pitchFamily="34" charset="0"/>
              <a:cs typeface="Arial" panose="020B0604020202020204" pitchFamily="34" charset="0"/>
            </a:endParaRPr>
          </a:p>
        </p:txBody>
      </p:sp>
      <p:sp>
        <p:nvSpPr>
          <p:cNvPr id="4" name="Title 1"/>
          <p:cNvSpPr/>
          <p:nvPr/>
        </p:nvSpPr>
        <p:spPr>
          <a:xfrm>
            <a:off x="551815" y="764540"/>
            <a:ext cx="9511030" cy="454660"/>
          </a:xfrm>
          <a:prstGeom prst="rect">
            <a:avLst/>
          </a:prstGeom>
          <a:noFill/>
          <a:ln>
            <a:noFill/>
          </a:ln>
        </p:spPr>
        <p:txBody>
          <a:bodyPr wrap="square" lIns="91425" tIns="45700" rIns="91425" bIns="45700" anchor="ctr" anchorCtr="0">
            <a:normAutofit fontScale="25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en-IN" altLang="en-US" sz="8000" b="1">
                <a:solidFill>
                  <a:schemeClr val="tx1">
                    <a:lumMod val="95000"/>
                    <a:lumOff val="5000"/>
                  </a:schemeClr>
                </a:solidFill>
                <a:latin typeface="Arial" panose="020B0604020202020204" pitchFamily="34" charset="0"/>
                <a:cs typeface="Arial" panose="020B0604020202020204" pitchFamily="34" charset="0"/>
              </a:rPr>
              <a:t>3.</a:t>
            </a:r>
            <a:r>
              <a:rPr lang="en-US" altLang="en-US" sz="8000" b="1">
                <a:solidFill>
                  <a:schemeClr val="tx1">
                    <a:lumMod val="95000"/>
                    <a:lumOff val="5000"/>
                  </a:schemeClr>
                </a:solidFill>
                <a:latin typeface="Arial" panose="020B0604020202020204" pitchFamily="34" charset="0"/>
                <a:cs typeface="Arial" panose="020B0604020202020204" pitchFamily="34" charset="0"/>
              </a:rPr>
              <a:t>Which positions require the most qualifications?</a:t>
            </a:r>
            <a:r>
              <a:rPr lang="en-IN" altLang="en-US" b="1">
                <a:solidFill>
                  <a:schemeClr val="tx1">
                    <a:lumMod val="95000"/>
                    <a:lumOff val="5000"/>
                  </a:schemeClr>
                </a:solidFill>
                <a:latin typeface="Arial" panose="020B0604020202020204" pitchFamily="34" charset="0"/>
                <a:cs typeface="Arial" panose="020B0604020202020204" pitchFamily="34" charset="0"/>
              </a:rPr>
              <a:t> </a:t>
            </a:r>
            <a:endParaRPr lang="en-IN" altLang="en-US" b="1">
              <a:solidFill>
                <a:schemeClr val="tx1">
                  <a:lumMod val="95000"/>
                  <a:lumOff val="5000"/>
                </a:schemeClr>
              </a:solidFill>
              <a:latin typeface="Arial" panose="020B0604020202020204" pitchFamily="34" charset="0"/>
              <a:cs typeface="Arial" panose="020B0604020202020204" pitchFamily="34" charset="0"/>
            </a:endParaRPr>
          </a:p>
        </p:txBody>
      </p:sp>
      <p:sp>
        <p:nvSpPr>
          <p:cNvPr id="6" name="Text Box 5"/>
          <p:cNvSpPr txBox="1"/>
          <p:nvPr/>
        </p:nvSpPr>
        <p:spPr>
          <a:xfrm>
            <a:off x="5448300" y="5372735"/>
            <a:ext cx="5584825" cy="334010"/>
          </a:xfrm>
          <a:prstGeom prst="rect">
            <a:avLst/>
          </a:prstGeom>
        </p:spPr>
        <p:txBody>
          <a:bodyPr>
            <a:noAutofit/>
          </a:bodyPr>
          <a:p>
            <a:pPr marL="0" indent="0" fontAlgn="base">
              <a:lnSpc>
                <a:spcPts val="1445"/>
              </a:lnSpc>
              <a:spcBef>
                <a:spcPct val="0"/>
              </a:spcBef>
              <a:spcAft>
                <a:spcPct val="0"/>
              </a:spcAft>
            </a:pPr>
            <a:endParaRPr lang="en-US" altLang="zh-CN" sz="2000" b="1" i="0">
              <a:solidFill>
                <a:schemeClr val="tx1"/>
              </a:solidFill>
              <a:latin typeface="Arial" panose="020B0604020202020204" pitchFamily="34" charset="0"/>
              <a:ea typeface="gg sans"/>
              <a:cs typeface="Arial" panose="020B0604020202020204" pitchFamily="34" charset="0"/>
            </a:endParaRPr>
          </a:p>
        </p:txBody>
      </p:sp>
      <p:sp>
        <p:nvSpPr>
          <p:cNvPr id="10" name="Rounded Rectangle 9"/>
          <p:cNvSpPr/>
          <p:nvPr/>
        </p:nvSpPr>
        <p:spPr>
          <a:xfrm>
            <a:off x="7078345" y="3866515"/>
            <a:ext cx="4714875" cy="2303145"/>
          </a:xfrm>
          <a:prstGeom prst="roundRect">
            <a:avLst/>
          </a:prstGeom>
          <a:solidFill>
            <a:schemeClr val="accent1">
              <a:lumMod val="20000"/>
              <a:lumOff val="80000"/>
            </a:schemeClr>
          </a:solidFill>
          <a:ln>
            <a:gradFill>
              <a:gsLst>
                <a:gs pos="50000">
                  <a:schemeClr val="tx1"/>
                </a:gs>
                <a:gs pos="0">
                  <a:schemeClr val="tx1">
                    <a:lumMod val="25000"/>
                    <a:lumOff val="75000"/>
                  </a:schemeClr>
                </a:gs>
                <a:gs pos="100000">
                  <a:schemeClr val="tx1">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10000"/>
              </a:lnSpc>
            </a:pPr>
            <a:endParaRPr lang="en-IN" altLang="en-US" sz="1800" b="1">
              <a:solidFill>
                <a:schemeClr val="tx1">
                  <a:lumMod val="95000"/>
                  <a:lumOff val="5000"/>
                </a:schemeClr>
              </a:solidFill>
              <a:latin typeface="Lucida Sans" panose="020B0602030504020204" charset="0"/>
              <a:cs typeface="Lucida Sans" panose="020B0602030504020204" charset="0"/>
            </a:endParaRPr>
          </a:p>
          <a:p>
            <a:pPr algn="ctr">
              <a:lnSpc>
                <a:spcPct val="110000"/>
              </a:lnSpc>
            </a:pPr>
            <a:r>
              <a:rPr lang="en-IN" altLang="en-US" sz="1800" b="1">
                <a:solidFill>
                  <a:schemeClr val="tx1">
                    <a:lumMod val="95000"/>
                    <a:lumOff val="5000"/>
                  </a:schemeClr>
                </a:solidFill>
                <a:latin typeface="Lucida Sans" panose="020B0602030504020204" charset="0"/>
                <a:cs typeface="Lucida Sans" panose="020B0602030504020204" charset="0"/>
              </a:rPr>
              <a:t>Insights</a:t>
            </a:r>
            <a:r>
              <a:rPr lang="en-IN" altLang="en-US" sz="1800">
                <a:solidFill>
                  <a:schemeClr val="tx1">
                    <a:lumMod val="95000"/>
                    <a:lumOff val="5000"/>
                  </a:schemeClr>
                </a:solidFill>
              </a:rPr>
              <a:t>:  </a:t>
            </a:r>
            <a:r>
              <a:rPr lang="en-US" altLang="en-US" sz="1800">
                <a:solidFill>
                  <a:schemeClr val="tx1">
                    <a:lumMod val="95000"/>
                    <a:lumOff val="5000"/>
                  </a:schemeClr>
                </a:solidFill>
              </a:rPr>
              <a:t>The query identifies which positions require the most qualifications by counting the qualifications for each position. The results are sorted in descending order, so the position with the highest qualification count appears first.</a:t>
            </a:r>
            <a:endParaRPr lang="en-US" altLang="en-US" sz="1800">
              <a:solidFill>
                <a:schemeClr val="tx1">
                  <a:lumMod val="95000"/>
                  <a:lumOff val="5000"/>
                </a:schemeClr>
              </a:solidFill>
            </a:endParaRPr>
          </a:p>
          <a:p>
            <a:pPr algn="ctr"/>
            <a:endParaRPr lang="en-IN" altLang="en-US">
              <a:solidFill>
                <a:schemeClr val="tx1">
                  <a:lumMod val="95000"/>
                  <a:lumOff val="5000"/>
                </a:schemeClr>
              </a:solidFill>
            </a:endParaRPr>
          </a:p>
          <a:p>
            <a:pPr algn="ctr"/>
            <a:endParaRPr lang="en-IN" altLang="en-US">
              <a:solidFill>
                <a:schemeClr val="tx1">
                  <a:lumMod val="95000"/>
                  <a:lumOff val="5000"/>
                </a:schemeClr>
              </a:solidFill>
            </a:endParaRPr>
          </a:p>
        </p:txBody>
      </p:sp>
      <p:pic>
        <p:nvPicPr>
          <p:cNvPr id="7" name="Picture 6" descr="3"/>
          <p:cNvPicPr>
            <a:picLocks noChangeAspect="1"/>
          </p:cNvPicPr>
          <p:nvPr/>
        </p:nvPicPr>
        <p:blipFill>
          <a:blip r:embed="rId1"/>
          <a:stretch>
            <a:fillRect/>
          </a:stretch>
        </p:blipFill>
        <p:spPr>
          <a:xfrm>
            <a:off x="7078345" y="981075"/>
            <a:ext cx="4591685" cy="26193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263525" y="116840"/>
            <a:ext cx="9511030" cy="454660"/>
          </a:xfrm>
        </p:spPr>
        <p:txBody>
          <a:bodyPr>
            <a:normAutofit fontScale="90000"/>
          </a:bodyPr>
          <a:p>
            <a:r>
              <a:rPr lang="en-IN" altLang="en-US" sz="3110" b="1" u="sng">
                <a:solidFill>
                  <a:srgbClr val="C00000"/>
                </a:solidFill>
              </a:rPr>
              <a:t>Key Analysis Queries</a:t>
            </a:r>
            <a:endParaRPr lang="en-IN" altLang="en-US" sz="3110" b="1" u="sng">
              <a:solidFill>
                <a:srgbClr val="C00000"/>
              </a:solidFill>
            </a:endParaRPr>
          </a:p>
        </p:txBody>
      </p:sp>
      <p:sp>
        <p:nvSpPr>
          <p:cNvPr id="3" name="Text Placeholder 2"/>
          <p:cNvSpPr/>
          <p:nvPr>
            <p:ph type="body" idx="1"/>
          </p:nvPr>
        </p:nvSpPr>
        <p:spPr>
          <a:xfrm>
            <a:off x="551180" y="1119505"/>
            <a:ext cx="5187950" cy="5713730"/>
          </a:xfrm>
        </p:spPr>
        <p:txBody>
          <a:bodyPr>
            <a:noAutofit/>
          </a:bodyPr>
          <a:p>
            <a:pPr marL="114300" indent="0">
              <a:lnSpc>
                <a:spcPct val="80000"/>
              </a:lnSpc>
              <a:buNone/>
            </a:pPr>
            <a:r>
              <a:rPr lang="en-US" altLang="en-US" sz="1200">
                <a:latin typeface="Arial" panose="020B0604020202020204" pitchFamily="34" charset="0"/>
                <a:cs typeface="Arial" panose="020B0604020202020204" pitchFamily="34" charset="0"/>
              </a:rPr>
              <a:t>SELECT</a:t>
            </a:r>
            <a:endParaRPr lang="en-US" altLang="en-US" sz="1200">
              <a:latin typeface="Arial" panose="020B0604020202020204" pitchFamily="34" charset="0"/>
              <a:cs typeface="Arial" panose="020B0604020202020204" pitchFamily="34" charset="0"/>
            </a:endParaRPr>
          </a:p>
          <a:p>
            <a:pPr marL="114300" indent="0">
              <a:lnSpc>
                <a:spcPct val="30000"/>
              </a:lnSpc>
              <a:buNone/>
            </a:pPr>
            <a:r>
              <a:rPr lang="en-US" altLang="en-US" sz="1200">
                <a:latin typeface="Arial" panose="020B0604020202020204" pitchFamily="34" charset="0"/>
                <a:cs typeface="Arial" panose="020B0604020202020204" pitchFamily="34" charset="0"/>
              </a:rPr>
              <a:t>    e.emp_ID,</a:t>
            </a:r>
            <a:endParaRPr lang="en-US" altLang="en-US" sz="1200">
              <a:latin typeface="Arial" panose="020B0604020202020204" pitchFamily="34" charset="0"/>
              <a:cs typeface="Arial" panose="020B0604020202020204" pitchFamily="34" charset="0"/>
            </a:endParaRPr>
          </a:p>
          <a:p>
            <a:pPr marL="114300" indent="0">
              <a:lnSpc>
                <a:spcPct val="80000"/>
              </a:lnSpc>
              <a:buNone/>
            </a:pPr>
            <a:r>
              <a:rPr lang="en-US" altLang="en-US" sz="1200">
                <a:latin typeface="Arial" panose="020B0604020202020204" pitchFamily="34" charset="0"/>
                <a:cs typeface="Arial" panose="020B0604020202020204" pitchFamily="34" charset="0"/>
              </a:rPr>
              <a:t>    CONCAT(e.firstname, ' ', e.lastname) AS employee_name,</a:t>
            </a:r>
            <a:endParaRPr lang="en-US" altLang="en-US" sz="1200">
              <a:latin typeface="Arial" panose="020B0604020202020204" pitchFamily="34" charset="0"/>
              <a:cs typeface="Arial" panose="020B0604020202020204" pitchFamily="34" charset="0"/>
            </a:endParaRPr>
          </a:p>
          <a:p>
            <a:pPr marL="114300" indent="0">
              <a:lnSpc>
                <a:spcPct val="80000"/>
              </a:lnSpc>
              <a:buNone/>
            </a:pPr>
            <a:r>
              <a:rPr lang="en-US" altLang="en-US" sz="1200">
                <a:latin typeface="Arial" panose="020B0604020202020204" pitchFamily="34" charset="0"/>
                <a:cs typeface="Arial" panose="020B0604020202020204" pitchFamily="34" charset="0"/>
              </a:rPr>
              <a:t>    COALESCE(l.total_leaves, 0) AS total_leaves,</a:t>
            </a:r>
            <a:endParaRPr lang="en-US" altLang="en-US" sz="1200">
              <a:latin typeface="Arial" panose="020B0604020202020204" pitchFamily="34" charset="0"/>
              <a:cs typeface="Arial" panose="020B0604020202020204" pitchFamily="34" charset="0"/>
            </a:endParaRPr>
          </a:p>
          <a:p>
            <a:pPr marL="114300" indent="0">
              <a:lnSpc>
                <a:spcPct val="80000"/>
              </a:lnSpc>
              <a:buNone/>
            </a:pPr>
            <a:r>
              <a:rPr lang="en-US" altLang="en-US" sz="1200">
                <a:latin typeface="Arial" panose="020B0604020202020204" pitchFamily="34" charset="0"/>
                <a:cs typeface="Arial" panose="020B0604020202020204" pitchFamily="34" charset="0"/>
              </a:rPr>
              <a:t>    sb.amount AS monthly_salary,</a:t>
            </a:r>
            <a:endParaRPr lang="en-US" altLang="en-US" sz="1200">
              <a:latin typeface="Arial" panose="020B0604020202020204" pitchFamily="34" charset="0"/>
              <a:cs typeface="Arial" panose="020B0604020202020204" pitchFamily="34" charset="0"/>
            </a:endParaRPr>
          </a:p>
          <a:p>
            <a:pPr marL="114300" indent="0">
              <a:lnSpc>
                <a:spcPct val="80000"/>
              </a:lnSpc>
              <a:buNone/>
            </a:pPr>
            <a:r>
              <a:rPr lang="en-US" altLang="en-US" sz="1200">
                <a:latin typeface="Arial" panose="020B0604020202020204" pitchFamily="34" charset="0"/>
                <a:cs typeface="Arial" panose="020B0604020202020204" pitchFamily="34" charset="0"/>
              </a:rPr>
              <a:t>    ROUND(</a:t>
            </a:r>
            <a:endParaRPr lang="en-US" altLang="en-US" sz="1200">
              <a:latin typeface="Arial" panose="020B0604020202020204" pitchFamily="34" charset="0"/>
              <a:cs typeface="Arial" panose="020B0604020202020204" pitchFamily="34" charset="0"/>
            </a:endParaRPr>
          </a:p>
          <a:p>
            <a:pPr marL="114300" indent="0">
              <a:lnSpc>
                <a:spcPct val="80000"/>
              </a:lnSpc>
              <a:buNone/>
            </a:pPr>
            <a:r>
              <a:rPr lang="en-US" altLang="en-US" sz="1200">
                <a:latin typeface="Arial" panose="020B0604020202020204" pitchFamily="34" charset="0"/>
                <a:cs typeface="Arial" panose="020B0604020202020204" pitchFamily="34" charset="0"/>
              </a:rPr>
              <a:t>        (sb.amount / 30) * COALESCE(l.total_leaves, 0),</a:t>
            </a:r>
            <a:endParaRPr lang="en-US" altLang="en-US" sz="1200">
              <a:latin typeface="Arial" panose="020B0604020202020204" pitchFamily="34" charset="0"/>
              <a:cs typeface="Arial" panose="020B0604020202020204" pitchFamily="34" charset="0"/>
            </a:endParaRPr>
          </a:p>
          <a:p>
            <a:pPr marL="114300" indent="0">
              <a:lnSpc>
                <a:spcPct val="80000"/>
              </a:lnSpc>
              <a:buNone/>
            </a:pPr>
            <a:r>
              <a:rPr lang="en-US" altLang="en-US" sz="1200">
                <a:latin typeface="Arial" panose="020B0604020202020204" pitchFamily="34" charset="0"/>
                <a:cs typeface="Arial" panose="020B0604020202020204" pitchFamily="34" charset="0"/>
              </a:rPr>
              <a:t>        2</a:t>
            </a:r>
            <a:endParaRPr lang="en-US" altLang="en-US" sz="1200">
              <a:latin typeface="Arial" panose="020B0604020202020204" pitchFamily="34" charset="0"/>
              <a:cs typeface="Arial" panose="020B0604020202020204" pitchFamily="34" charset="0"/>
            </a:endParaRPr>
          </a:p>
          <a:p>
            <a:pPr marL="114300" indent="0">
              <a:lnSpc>
                <a:spcPct val="80000"/>
              </a:lnSpc>
              <a:buNone/>
            </a:pPr>
            <a:r>
              <a:rPr lang="en-US" altLang="en-US" sz="1200">
                <a:latin typeface="Arial" panose="020B0604020202020204" pitchFamily="34" charset="0"/>
                <a:cs typeface="Arial" panose="020B0604020202020204" pitchFamily="34" charset="0"/>
              </a:rPr>
              <a:t>    ) AS salary_deducted</a:t>
            </a:r>
            <a:endParaRPr lang="en-US" altLang="en-US" sz="1200">
              <a:latin typeface="Arial" panose="020B0604020202020204" pitchFamily="34" charset="0"/>
              <a:cs typeface="Arial" panose="020B0604020202020204" pitchFamily="34" charset="0"/>
            </a:endParaRPr>
          </a:p>
          <a:p>
            <a:pPr marL="114300" indent="0">
              <a:lnSpc>
                <a:spcPct val="80000"/>
              </a:lnSpc>
              <a:buNone/>
            </a:pPr>
            <a:r>
              <a:rPr lang="en-US" altLang="en-US" sz="1200">
                <a:latin typeface="Arial" panose="020B0604020202020204" pitchFamily="34" charset="0"/>
                <a:cs typeface="Arial" panose="020B0604020202020204" pitchFamily="34" charset="0"/>
              </a:rPr>
              <a:t>FROM Employee e</a:t>
            </a:r>
            <a:endParaRPr lang="en-US" altLang="en-US" sz="1200">
              <a:latin typeface="Arial" panose="020B0604020202020204" pitchFamily="34" charset="0"/>
              <a:cs typeface="Arial" panose="020B0604020202020204" pitchFamily="34" charset="0"/>
            </a:endParaRPr>
          </a:p>
          <a:p>
            <a:pPr marL="114300" indent="0">
              <a:lnSpc>
                <a:spcPct val="80000"/>
              </a:lnSpc>
              <a:buNone/>
            </a:pPr>
            <a:r>
              <a:rPr lang="en-US" altLang="en-US" sz="1200">
                <a:latin typeface="Arial" panose="020B0604020202020204" pitchFamily="34" charset="0"/>
                <a:cs typeface="Arial" panose="020B0604020202020204" pitchFamily="34" charset="0"/>
              </a:rPr>
              <a:t>LEFT JOIN (</a:t>
            </a:r>
            <a:endParaRPr lang="en-US" altLang="en-US" sz="1200">
              <a:latin typeface="Arial" panose="020B0604020202020204" pitchFamily="34" charset="0"/>
              <a:cs typeface="Arial" panose="020B0604020202020204" pitchFamily="34" charset="0"/>
            </a:endParaRPr>
          </a:p>
          <a:p>
            <a:pPr marL="114300" indent="0">
              <a:lnSpc>
                <a:spcPct val="80000"/>
              </a:lnSpc>
              <a:buNone/>
            </a:pPr>
            <a:r>
              <a:rPr lang="en-US" altLang="en-US" sz="1200">
                <a:latin typeface="Arial" panose="020B0604020202020204" pitchFamily="34" charset="0"/>
                <a:cs typeface="Arial" panose="020B0604020202020204" pitchFamily="34" charset="0"/>
              </a:rPr>
              <a:t>    SELECT</a:t>
            </a:r>
            <a:endParaRPr lang="en-US" altLang="en-US" sz="1200">
              <a:latin typeface="Arial" panose="020B0604020202020204" pitchFamily="34" charset="0"/>
              <a:cs typeface="Arial" panose="020B0604020202020204" pitchFamily="34" charset="0"/>
            </a:endParaRPr>
          </a:p>
          <a:p>
            <a:pPr marL="114300" indent="0">
              <a:lnSpc>
                <a:spcPct val="80000"/>
              </a:lnSpc>
              <a:buNone/>
            </a:pPr>
            <a:r>
              <a:rPr lang="en-US" altLang="en-US" sz="1200">
                <a:latin typeface="Arial" panose="020B0604020202020204" pitchFamily="34" charset="0"/>
                <a:cs typeface="Arial" panose="020B0604020202020204" pitchFamily="34" charset="0"/>
              </a:rPr>
              <a:t>        emp_ID,</a:t>
            </a:r>
            <a:endParaRPr lang="en-US" altLang="en-US" sz="1200">
              <a:latin typeface="Arial" panose="020B0604020202020204" pitchFamily="34" charset="0"/>
              <a:cs typeface="Arial" panose="020B0604020202020204" pitchFamily="34" charset="0"/>
            </a:endParaRPr>
          </a:p>
          <a:p>
            <a:pPr marL="114300" indent="0">
              <a:lnSpc>
                <a:spcPct val="80000"/>
              </a:lnSpc>
              <a:buNone/>
            </a:pPr>
            <a:r>
              <a:rPr lang="en-US" altLang="en-US" sz="1200">
                <a:latin typeface="Arial" panose="020B0604020202020204" pitchFamily="34" charset="0"/>
                <a:cs typeface="Arial" panose="020B0604020202020204" pitchFamily="34" charset="0"/>
              </a:rPr>
              <a:t>        COUNT(leave_ID) AS total_leaves</a:t>
            </a:r>
            <a:endParaRPr lang="en-US" altLang="en-US" sz="1200">
              <a:latin typeface="Arial" panose="020B0604020202020204" pitchFamily="34" charset="0"/>
              <a:cs typeface="Arial" panose="020B0604020202020204" pitchFamily="34" charset="0"/>
            </a:endParaRPr>
          </a:p>
          <a:p>
            <a:pPr marL="114300" indent="0">
              <a:lnSpc>
                <a:spcPct val="80000"/>
              </a:lnSpc>
              <a:buNone/>
            </a:pPr>
            <a:r>
              <a:rPr lang="en-US" altLang="en-US" sz="1200">
                <a:latin typeface="Arial" panose="020B0604020202020204" pitchFamily="34" charset="0"/>
                <a:cs typeface="Arial" panose="020B0604020202020204" pitchFamily="34" charset="0"/>
              </a:rPr>
              <a:t>    FROM Leaves</a:t>
            </a:r>
            <a:endParaRPr lang="en-US" altLang="en-US" sz="1200">
              <a:latin typeface="Arial" panose="020B0604020202020204" pitchFamily="34" charset="0"/>
              <a:cs typeface="Arial" panose="020B0604020202020204" pitchFamily="34" charset="0"/>
            </a:endParaRPr>
          </a:p>
          <a:p>
            <a:pPr marL="114300" indent="0">
              <a:lnSpc>
                <a:spcPct val="80000"/>
              </a:lnSpc>
              <a:buNone/>
            </a:pPr>
            <a:r>
              <a:rPr lang="en-US" altLang="en-US" sz="1200">
                <a:latin typeface="Arial" panose="020B0604020202020204" pitchFamily="34" charset="0"/>
                <a:cs typeface="Arial" panose="020B0604020202020204" pitchFamily="34" charset="0"/>
              </a:rPr>
              <a:t>    GROUP BY emp_ID</a:t>
            </a:r>
            <a:endParaRPr lang="en-US" altLang="en-US" sz="1200">
              <a:latin typeface="Arial" panose="020B0604020202020204" pitchFamily="34" charset="0"/>
              <a:cs typeface="Arial" panose="020B0604020202020204" pitchFamily="34" charset="0"/>
            </a:endParaRPr>
          </a:p>
          <a:p>
            <a:pPr marL="114300" indent="0">
              <a:lnSpc>
                <a:spcPct val="80000"/>
              </a:lnSpc>
              <a:buNone/>
            </a:pPr>
            <a:r>
              <a:rPr lang="en-US" altLang="en-US" sz="1200">
                <a:latin typeface="Arial" panose="020B0604020202020204" pitchFamily="34" charset="0"/>
                <a:cs typeface="Arial" panose="020B0604020202020204" pitchFamily="34" charset="0"/>
              </a:rPr>
              <a:t>) l</a:t>
            </a:r>
            <a:endParaRPr lang="en-US" altLang="en-US" sz="1200">
              <a:latin typeface="Arial" panose="020B0604020202020204" pitchFamily="34" charset="0"/>
              <a:cs typeface="Arial" panose="020B0604020202020204" pitchFamily="34" charset="0"/>
            </a:endParaRPr>
          </a:p>
          <a:p>
            <a:pPr marL="114300" indent="0">
              <a:lnSpc>
                <a:spcPct val="10000"/>
              </a:lnSpc>
              <a:buNone/>
            </a:pPr>
            <a:r>
              <a:rPr lang="en-US" altLang="en-US" sz="1200">
                <a:latin typeface="Arial" panose="020B0604020202020204" pitchFamily="34" charset="0"/>
                <a:cs typeface="Arial" panose="020B0604020202020204" pitchFamily="34" charset="0"/>
              </a:rPr>
              <a:t>    ON e.emp_ID = l.emp_ID</a:t>
            </a:r>
            <a:endParaRPr lang="en-US" altLang="en-US" sz="1200">
              <a:latin typeface="Arial" panose="020B0604020202020204" pitchFamily="34" charset="0"/>
              <a:cs typeface="Arial" panose="020B0604020202020204" pitchFamily="34" charset="0"/>
            </a:endParaRPr>
          </a:p>
          <a:p>
            <a:pPr marL="114300" indent="0">
              <a:lnSpc>
                <a:spcPct val="80000"/>
              </a:lnSpc>
              <a:buNone/>
            </a:pPr>
            <a:r>
              <a:rPr lang="en-US" altLang="en-US" sz="1200">
                <a:latin typeface="Arial" panose="020B0604020202020204" pitchFamily="34" charset="0"/>
                <a:cs typeface="Arial" panose="020B0604020202020204" pitchFamily="34" charset="0"/>
              </a:rPr>
              <a:t>LEFT JOIN SalaryBonus sb</a:t>
            </a:r>
            <a:endParaRPr lang="en-US" altLang="en-US" sz="1200">
              <a:latin typeface="Arial" panose="020B0604020202020204" pitchFamily="34" charset="0"/>
              <a:cs typeface="Arial" panose="020B0604020202020204" pitchFamily="34" charset="0"/>
            </a:endParaRPr>
          </a:p>
          <a:p>
            <a:pPr marL="114300" indent="0">
              <a:lnSpc>
                <a:spcPct val="80000"/>
              </a:lnSpc>
              <a:buNone/>
            </a:pPr>
            <a:r>
              <a:rPr lang="en-US" altLang="en-US" sz="1200">
                <a:latin typeface="Arial" panose="020B0604020202020204" pitchFamily="34" charset="0"/>
                <a:cs typeface="Arial" panose="020B0604020202020204" pitchFamily="34" charset="0"/>
              </a:rPr>
              <a:t>    ON e.Job_ID = sb.Job_ID</a:t>
            </a:r>
            <a:endParaRPr lang="en-US" altLang="en-US" sz="1200">
              <a:latin typeface="Arial" panose="020B0604020202020204" pitchFamily="34" charset="0"/>
              <a:cs typeface="Arial" panose="020B0604020202020204" pitchFamily="34" charset="0"/>
            </a:endParaRPr>
          </a:p>
          <a:p>
            <a:pPr marL="114300" indent="0">
              <a:lnSpc>
                <a:spcPct val="80000"/>
              </a:lnSpc>
              <a:buNone/>
            </a:pPr>
            <a:r>
              <a:rPr lang="en-US" altLang="en-US" sz="1200">
                <a:latin typeface="Arial" panose="020B0604020202020204" pitchFamily="34" charset="0"/>
                <a:cs typeface="Arial" panose="020B0604020202020204" pitchFamily="34" charset="0"/>
              </a:rPr>
              <a:t>ORDER BY total_leaves DESC;</a:t>
            </a:r>
            <a:endParaRPr lang="en-US" altLang="en-US" sz="1200">
              <a:latin typeface="Arial" panose="020B0604020202020204" pitchFamily="34" charset="0"/>
              <a:cs typeface="Arial" panose="020B0604020202020204" pitchFamily="34" charset="0"/>
            </a:endParaRPr>
          </a:p>
        </p:txBody>
      </p:sp>
      <p:sp>
        <p:nvSpPr>
          <p:cNvPr id="4" name="Title 1"/>
          <p:cNvSpPr/>
          <p:nvPr/>
        </p:nvSpPr>
        <p:spPr>
          <a:xfrm>
            <a:off x="545465" y="621030"/>
            <a:ext cx="9511030" cy="454660"/>
          </a:xfrm>
          <a:prstGeom prst="rect">
            <a:avLst/>
          </a:prstGeom>
          <a:noFill/>
          <a:ln>
            <a:noFill/>
          </a:ln>
        </p:spPr>
        <p:txBody>
          <a:bodyPr wrap="square" lIns="91425" tIns="45700" rIns="91425" bIns="45700" anchor="ctr" anchorCtr="0">
            <a:normAutofit fontScale="25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en-IN" altLang="en-US" sz="8000" b="1">
                <a:solidFill>
                  <a:schemeClr val="tx1">
                    <a:lumMod val="95000"/>
                    <a:lumOff val="5000"/>
                  </a:schemeClr>
                </a:solidFill>
                <a:latin typeface="Arial" panose="020B0604020202020204" pitchFamily="34" charset="0"/>
                <a:cs typeface="Arial" panose="020B0604020202020204" pitchFamily="34" charset="0"/>
              </a:rPr>
              <a:t>4.</a:t>
            </a:r>
            <a:r>
              <a:rPr lang="en-US" altLang="en-US" sz="8000" b="1">
                <a:solidFill>
                  <a:schemeClr val="tx1">
                    <a:lumMod val="95000"/>
                    <a:lumOff val="5000"/>
                  </a:schemeClr>
                </a:solidFill>
                <a:latin typeface="Arial" panose="020B0604020202020204" pitchFamily="34" charset="0"/>
                <a:cs typeface="Arial" panose="020B0604020202020204" pitchFamily="34" charset="0"/>
              </a:rPr>
              <a:t>How do leave days correlate with payroll amounts?</a:t>
            </a:r>
            <a:endParaRPr lang="en-US" altLang="en-US" sz="8000" b="1">
              <a:solidFill>
                <a:schemeClr val="tx1">
                  <a:lumMod val="95000"/>
                  <a:lumOff val="5000"/>
                </a:schemeClr>
              </a:solidFill>
              <a:latin typeface="Arial" panose="020B0604020202020204" pitchFamily="34" charset="0"/>
              <a:cs typeface="Arial" panose="020B0604020202020204" pitchFamily="34" charset="0"/>
            </a:endParaRPr>
          </a:p>
        </p:txBody>
      </p:sp>
      <p:sp>
        <p:nvSpPr>
          <p:cNvPr id="6" name="Text Box 5"/>
          <p:cNvSpPr txBox="1"/>
          <p:nvPr/>
        </p:nvSpPr>
        <p:spPr>
          <a:xfrm>
            <a:off x="5448300" y="5372735"/>
            <a:ext cx="5584825" cy="334010"/>
          </a:xfrm>
          <a:prstGeom prst="rect">
            <a:avLst/>
          </a:prstGeom>
        </p:spPr>
        <p:txBody>
          <a:bodyPr>
            <a:noAutofit/>
          </a:bodyPr>
          <a:p>
            <a:pPr marL="0" indent="0" fontAlgn="base">
              <a:lnSpc>
                <a:spcPts val="1445"/>
              </a:lnSpc>
              <a:spcBef>
                <a:spcPct val="0"/>
              </a:spcBef>
              <a:spcAft>
                <a:spcPct val="0"/>
              </a:spcAft>
            </a:pPr>
            <a:endParaRPr lang="en-US" altLang="zh-CN" sz="2000" b="1" i="0">
              <a:solidFill>
                <a:schemeClr val="tx1"/>
              </a:solidFill>
              <a:latin typeface="Arial" panose="020B0604020202020204" pitchFamily="34" charset="0"/>
              <a:ea typeface="gg sans"/>
              <a:cs typeface="Arial" panose="020B0604020202020204" pitchFamily="34" charset="0"/>
            </a:endParaRPr>
          </a:p>
        </p:txBody>
      </p:sp>
      <p:sp>
        <p:nvSpPr>
          <p:cNvPr id="10" name="Rounded Rectangle 9"/>
          <p:cNvSpPr/>
          <p:nvPr/>
        </p:nvSpPr>
        <p:spPr>
          <a:xfrm>
            <a:off x="6811010" y="3866515"/>
            <a:ext cx="4982210" cy="2303145"/>
          </a:xfrm>
          <a:prstGeom prst="roundRect">
            <a:avLst/>
          </a:prstGeom>
          <a:solidFill>
            <a:schemeClr val="accent1">
              <a:lumMod val="20000"/>
              <a:lumOff val="80000"/>
            </a:schemeClr>
          </a:solidFill>
          <a:ln>
            <a:gradFill>
              <a:gsLst>
                <a:gs pos="50000">
                  <a:schemeClr val="tx1"/>
                </a:gs>
                <a:gs pos="0">
                  <a:schemeClr val="tx1">
                    <a:lumMod val="25000"/>
                    <a:lumOff val="75000"/>
                  </a:schemeClr>
                </a:gs>
                <a:gs pos="100000">
                  <a:schemeClr val="tx1">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10000"/>
              </a:lnSpc>
            </a:pPr>
            <a:endParaRPr lang="en-IN" altLang="en-US" sz="1800" b="1">
              <a:solidFill>
                <a:schemeClr val="tx1">
                  <a:lumMod val="95000"/>
                  <a:lumOff val="5000"/>
                </a:schemeClr>
              </a:solidFill>
              <a:latin typeface="Lucida Sans" panose="020B0602030504020204" charset="0"/>
              <a:cs typeface="Lucida Sans" panose="020B0602030504020204" charset="0"/>
            </a:endParaRPr>
          </a:p>
          <a:p>
            <a:pPr algn="ctr">
              <a:lnSpc>
                <a:spcPct val="110000"/>
              </a:lnSpc>
            </a:pPr>
            <a:r>
              <a:rPr lang="en-IN" altLang="en-US" sz="1800" b="1">
                <a:solidFill>
                  <a:schemeClr val="tx1">
                    <a:lumMod val="95000"/>
                    <a:lumOff val="5000"/>
                  </a:schemeClr>
                </a:solidFill>
                <a:latin typeface="Lucida Sans" panose="020B0602030504020204" charset="0"/>
                <a:cs typeface="Lucida Sans" panose="020B0602030504020204" charset="0"/>
              </a:rPr>
              <a:t>Insights</a:t>
            </a:r>
            <a:r>
              <a:rPr lang="en-IN" altLang="en-US" sz="1800">
                <a:solidFill>
                  <a:schemeClr val="tx1">
                    <a:lumMod val="95000"/>
                    <a:lumOff val="5000"/>
                  </a:schemeClr>
                </a:solidFill>
              </a:rPr>
              <a:t>:  </a:t>
            </a:r>
            <a:r>
              <a:rPr lang="en-US" altLang="en-US" sz="1800">
                <a:solidFill>
                  <a:schemeClr val="tx1">
                    <a:lumMod val="95000"/>
                    <a:lumOff val="5000"/>
                  </a:schemeClr>
                </a:solidFill>
              </a:rPr>
              <a:t>The insight is that payroll deduction depends on both leave days and monthly salary. Employees with the same leave days can have different deductions because their salaries differ, while more leave days result in a higher deduction.</a:t>
            </a:r>
            <a:endParaRPr lang="en-US" altLang="en-US" sz="1800">
              <a:solidFill>
                <a:schemeClr val="tx1">
                  <a:lumMod val="95000"/>
                  <a:lumOff val="5000"/>
                </a:schemeClr>
              </a:solidFill>
            </a:endParaRPr>
          </a:p>
          <a:p>
            <a:pPr algn="ctr">
              <a:lnSpc>
                <a:spcPct val="110000"/>
              </a:lnSpc>
            </a:pPr>
            <a:endParaRPr lang="en-US" altLang="en-US" sz="1800">
              <a:solidFill>
                <a:schemeClr val="tx1">
                  <a:lumMod val="95000"/>
                  <a:lumOff val="5000"/>
                </a:schemeClr>
              </a:solidFill>
            </a:endParaRPr>
          </a:p>
          <a:p>
            <a:pPr algn="ctr"/>
            <a:endParaRPr lang="en-IN" altLang="en-US">
              <a:solidFill>
                <a:schemeClr val="tx1">
                  <a:lumMod val="95000"/>
                  <a:lumOff val="5000"/>
                </a:schemeClr>
              </a:solidFill>
            </a:endParaRPr>
          </a:p>
        </p:txBody>
      </p:sp>
      <p:pic>
        <p:nvPicPr>
          <p:cNvPr id="5" name="Picture 4" descr="4"/>
          <p:cNvPicPr>
            <a:picLocks noChangeAspect="1"/>
          </p:cNvPicPr>
          <p:nvPr/>
        </p:nvPicPr>
        <p:blipFill>
          <a:blip r:embed="rId1"/>
          <a:stretch>
            <a:fillRect/>
          </a:stretch>
        </p:blipFill>
        <p:spPr>
          <a:xfrm>
            <a:off x="6774180" y="1267460"/>
            <a:ext cx="5019040" cy="23202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263525" y="188595"/>
            <a:ext cx="9511030" cy="454660"/>
          </a:xfrm>
        </p:spPr>
        <p:txBody>
          <a:bodyPr>
            <a:normAutofit fontScale="90000"/>
          </a:bodyPr>
          <a:p>
            <a:r>
              <a:rPr lang="en-IN" altLang="en-US" sz="3110" b="1" u="sng">
                <a:solidFill>
                  <a:srgbClr val="C00000"/>
                </a:solidFill>
              </a:rPr>
              <a:t>Key Analysis Queries</a:t>
            </a:r>
            <a:endParaRPr lang="en-IN" altLang="en-US" sz="3110" b="1" u="sng">
              <a:solidFill>
                <a:srgbClr val="C00000"/>
              </a:solidFill>
            </a:endParaRPr>
          </a:p>
        </p:txBody>
      </p:sp>
      <p:sp>
        <p:nvSpPr>
          <p:cNvPr id="3" name="Text Placeholder 2"/>
          <p:cNvSpPr/>
          <p:nvPr>
            <p:ph type="body" idx="1"/>
          </p:nvPr>
        </p:nvSpPr>
        <p:spPr>
          <a:xfrm>
            <a:off x="545465" y="1340485"/>
            <a:ext cx="5934710" cy="4776470"/>
          </a:xfrm>
        </p:spPr>
        <p:txBody>
          <a:bodyPr>
            <a:noAutofit/>
          </a:bodyPr>
          <a:p>
            <a:pPr marL="114300" indent="0">
              <a:lnSpc>
                <a:spcPct val="210000"/>
              </a:lnSpc>
              <a:buNone/>
            </a:pPr>
            <a:r>
              <a:rPr lang="en-US" altLang="en-US" sz="1300">
                <a:latin typeface="Arial" panose="020B0604020202020204" pitchFamily="34" charset="0"/>
                <a:cs typeface="Arial" panose="020B0604020202020204" pitchFamily="34" charset="0"/>
              </a:rPr>
              <a:t>SELECT JD.JOBDEPT AS DEPARTMENT,</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SUM(S.BONUS) AS TOTAL_BONUS</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FROM JOBDEPARTMENT AS JD</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JOIN SALARYBONUS AS S</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ON JD.JOB_ID = S.JOB_ID</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GROUP BY JD.JOBDEPT</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ORDER BY TOTAL_BONUS DESC</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LIMIT 1;</a:t>
            </a:r>
            <a:endParaRPr lang="en-US" altLang="en-US" sz="1300">
              <a:latin typeface="Arial" panose="020B0604020202020204" pitchFamily="34" charset="0"/>
              <a:cs typeface="Arial" panose="020B0604020202020204" pitchFamily="34" charset="0"/>
            </a:endParaRPr>
          </a:p>
        </p:txBody>
      </p:sp>
      <p:sp>
        <p:nvSpPr>
          <p:cNvPr id="4" name="Title 1"/>
          <p:cNvSpPr/>
          <p:nvPr/>
        </p:nvSpPr>
        <p:spPr>
          <a:xfrm>
            <a:off x="551815" y="764540"/>
            <a:ext cx="9511030" cy="454660"/>
          </a:xfrm>
          <a:prstGeom prst="rect">
            <a:avLst/>
          </a:prstGeom>
          <a:noFill/>
          <a:ln>
            <a:noFill/>
          </a:ln>
        </p:spPr>
        <p:txBody>
          <a:bodyPr wrap="square" lIns="91425" tIns="45700" rIns="91425" bIns="45700" anchor="ctr" anchorCtr="0">
            <a:normAutofit fontScale="25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en-IN" altLang="en-US" sz="8000" b="1">
                <a:solidFill>
                  <a:schemeClr val="tx1">
                    <a:lumMod val="95000"/>
                    <a:lumOff val="5000"/>
                  </a:schemeClr>
                </a:solidFill>
                <a:latin typeface="Arial" panose="020B0604020202020204" pitchFamily="34" charset="0"/>
                <a:cs typeface="Arial" panose="020B0604020202020204" pitchFamily="34" charset="0"/>
              </a:rPr>
              <a:t>5.</a:t>
            </a:r>
            <a:r>
              <a:rPr lang="en-US" altLang="en-US" sz="8000" b="1">
                <a:solidFill>
                  <a:schemeClr val="tx1">
                    <a:lumMod val="95000"/>
                    <a:lumOff val="5000"/>
                  </a:schemeClr>
                </a:solidFill>
                <a:latin typeface="Arial" panose="020B0604020202020204" pitchFamily="34" charset="0"/>
                <a:cs typeface="Arial" panose="020B0604020202020204" pitchFamily="34" charset="0"/>
              </a:rPr>
              <a:t>Which department receives the highest total bonuses?</a:t>
            </a:r>
            <a:endParaRPr lang="en-US" altLang="en-US" sz="8000" b="1">
              <a:solidFill>
                <a:schemeClr val="tx1">
                  <a:lumMod val="95000"/>
                  <a:lumOff val="5000"/>
                </a:schemeClr>
              </a:solidFill>
              <a:latin typeface="Arial" panose="020B0604020202020204" pitchFamily="34" charset="0"/>
              <a:cs typeface="Arial" panose="020B0604020202020204" pitchFamily="34" charset="0"/>
            </a:endParaRPr>
          </a:p>
        </p:txBody>
      </p:sp>
      <p:sp>
        <p:nvSpPr>
          <p:cNvPr id="6" name="Text Box 5"/>
          <p:cNvSpPr txBox="1"/>
          <p:nvPr/>
        </p:nvSpPr>
        <p:spPr>
          <a:xfrm>
            <a:off x="5448300" y="5372735"/>
            <a:ext cx="5584825" cy="334010"/>
          </a:xfrm>
          <a:prstGeom prst="rect">
            <a:avLst/>
          </a:prstGeom>
        </p:spPr>
        <p:txBody>
          <a:bodyPr>
            <a:noAutofit/>
          </a:bodyPr>
          <a:p>
            <a:pPr marL="0" indent="0" fontAlgn="base">
              <a:lnSpc>
                <a:spcPts val="1445"/>
              </a:lnSpc>
              <a:spcBef>
                <a:spcPct val="0"/>
              </a:spcBef>
              <a:spcAft>
                <a:spcPct val="0"/>
              </a:spcAft>
            </a:pPr>
            <a:endParaRPr lang="en-US" altLang="zh-CN" sz="2000" b="1" i="0">
              <a:solidFill>
                <a:schemeClr val="tx1"/>
              </a:solidFill>
              <a:latin typeface="Arial" panose="020B0604020202020204" pitchFamily="34" charset="0"/>
              <a:ea typeface="gg sans"/>
              <a:cs typeface="Arial" panose="020B0604020202020204" pitchFamily="34" charset="0"/>
            </a:endParaRPr>
          </a:p>
        </p:txBody>
      </p:sp>
      <p:sp>
        <p:nvSpPr>
          <p:cNvPr id="10" name="Rounded Rectangle 9"/>
          <p:cNvSpPr/>
          <p:nvPr/>
        </p:nvSpPr>
        <p:spPr>
          <a:xfrm>
            <a:off x="7055485" y="3663315"/>
            <a:ext cx="4737735" cy="2312035"/>
          </a:xfrm>
          <a:prstGeom prst="roundRect">
            <a:avLst/>
          </a:prstGeom>
          <a:solidFill>
            <a:schemeClr val="accent1">
              <a:lumMod val="20000"/>
              <a:lumOff val="80000"/>
            </a:schemeClr>
          </a:solidFill>
          <a:ln>
            <a:gradFill>
              <a:gsLst>
                <a:gs pos="50000">
                  <a:schemeClr val="tx1"/>
                </a:gs>
                <a:gs pos="0">
                  <a:schemeClr val="tx1">
                    <a:lumMod val="25000"/>
                    <a:lumOff val="75000"/>
                  </a:schemeClr>
                </a:gs>
                <a:gs pos="100000">
                  <a:schemeClr val="tx1">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10000"/>
              </a:lnSpc>
            </a:pPr>
            <a:endParaRPr lang="en-IN" altLang="en-US" sz="1800" b="1">
              <a:solidFill>
                <a:schemeClr val="tx1">
                  <a:lumMod val="95000"/>
                  <a:lumOff val="5000"/>
                </a:schemeClr>
              </a:solidFill>
              <a:latin typeface="Lucida Sans" panose="020B0602030504020204" charset="0"/>
              <a:cs typeface="Lucida Sans" panose="020B0602030504020204" charset="0"/>
            </a:endParaRPr>
          </a:p>
          <a:p>
            <a:pPr algn="ctr">
              <a:lnSpc>
                <a:spcPct val="110000"/>
              </a:lnSpc>
            </a:pPr>
            <a:endParaRPr lang="en-IN" altLang="en-US" sz="1800" b="1">
              <a:solidFill>
                <a:schemeClr val="tx1">
                  <a:lumMod val="95000"/>
                  <a:lumOff val="5000"/>
                </a:schemeClr>
              </a:solidFill>
              <a:latin typeface="Lucida Sans" panose="020B0602030504020204" charset="0"/>
              <a:cs typeface="Lucida Sans" panose="020B0602030504020204" charset="0"/>
            </a:endParaRPr>
          </a:p>
          <a:p>
            <a:pPr algn="ctr">
              <a:lnSpc>
                <a:spcPct val="110000"/>
              </a:lnSpc>
            </a:pPr>
            <a:r>
              <a:rPr lang="en-IN" altLang="en-US" sz="1800" b="1">
                <a:solidFill>
                  <a:schemeClr val="tx1">
                    <a:lumMod val="95000"/>
                    <a:lumOff val="5000"/>
                  </a:schemeClr>
                </a:solidFill>
                <a:latin typeface="Lucida Sans" panose="020B0602030504020204" charset="0"/>
                <a:cs typeface="Lucida Sans" panose="020B0602030504020204" charset="0"/>
              </a:rPr>
              <a:t>Insights</a:t>
            </a:r>
            <a:r>
              <a:rPr lang="en-IN" altLang="en-US" sz="1800">
                <a:solidFill>
                  <a:schemeClr val="tx1">
                    <a:lumMod val="95000"/>
                    <a:lumOff val="5000"/>
                  </a:schemeClr>
                </a:solidFill>
              </a:rPr>
              <a:t>:  </a:t>
            </a:r>
            <a:r>
              <a:rPr lang="en-US" altLang="en-US" sz="1800">
                <a:solidFill>
                  <a:schemeClr val="tx1">
                    <a:lumMod val="95000"/>
                    <a:lumOff val="5000"/>
                  </a:schemeClr>
                </a:solidFill>
              </a:rPr>
              <a:t>The query identifies the department receiving the highest total bonuses by summing bonus amounts for each department. The department with the largest total bonus appears first, showing where the company spends the most on employee bonuses.</a:t>
            </a:r>
            <a:endParaRPr lang="en-US" altLang="en-US" sz="1800">
              <a:solidFill>
                <a:schemeClr val="tx1">
                  <a:lumMod val="95000"/>
                  <a:lumOff val="5000"/>
                </a:schemeClr>
              </a:solidFill>
            </a:endParaRPr>
          </a:p>
          <a:p>
            <a:pPr algn="ctr">
              <a:lnSpc>
                <a:spcPct val="110000"/>
              </a:lnSpc>
            </a:pPr>
            <a:endParaRPr lang="en-US" altLang="en-US" sz="1800">
              <a:solidFill>
                <a:schemeClr val="tx1">
                  <a:lumMod val="95000"/>
                  <a:lumOff val="5000"/>
                </a:schemeClr>
              </a:solidFill>
            </a:endParaRPr>
          </a:p>
          <a:p>
            <a:pPr algn="ctr"/>
            <a:endParaRPr lang="en-IN" altLang="en-US">
              <a:solidFill>
                <a:schemeClr val="tx1">
                  <a:lumMod val="95000"/>
                  <a:lumOff val="5000"/>
                </a:schemeClr>
              </a:solidFill>
            </a:endParaRPr>
          </a:p>
          <a:p>
            <a:pPr algn="ctr"/>
            <a:endParaRPr lang="en-IN" altLang="en-US">
              <a:solidFill>
                <a:schemeClr val="tx1">
                  <a:lumMod val="95000"/>
                  <a:lumOff val="5000"/>
                </a:schemeClr>
              </a:solidFill>
            </a:endParaRPr>
          </a:p>
        </p:txBody>
      </p:sp>
      <p:pic>
        <p:nvPicPr>
          <p:cNvPr id="5" name="Picture 4" descr="5"/>
          <p:cNvPicPr>
            <a:picLocks noChangeAspect="1"/>
          </p:cNvPicPr>
          <p:nvPr/>
        </p:nvPicPr>
        <p:blipFill>
          <a:blip r:embed="rId1"/>
          <a:stretch>
            <a:fillRect/>
          </a:stretch>
        </p:blipFill>
        <p:spPr>
          <a:xfrm>
            <a:off x="7120890" y="1324610"/>
            <a:ext cx="4416425" cy="15652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263525" y="188595"/>
            <a:ext cx="9511030" cy="454660"/>
          </a:xfrm>
        </p:spPr>
        <p:txBody>
          <a:bodyPr>
            <a:normAutofit fontScale="90000"/>
          </a:bodyPr>
          <a:p>
            <a:r>
              <a:rPr lang="en-IN" altLang="en-US" sz="3110" b="1" u="sng">
                <a:solidFill>
                  <a:srgbClr val="C00000"/>
                </a:solidFill>
              </a:rPr>
              <a:t>Key Analysis Queries</a:t>
            </a:r>
            <a:endParaRPr lang="en-IN" altLang="en-US" sz="3110" b="1" u="sng">
              <a:solidFill>
                <a:srgbClr val="C00000"/>
              </a:solidFill>
            </a:endParaRPr>
          </a:p>
        </p:txBody>
      </p:sp>
      <p:sp>
        <p:nvSpPr>
          <p:cNvPr id="3" name="Text Placeholder 2"/>
          <p:cNvSpPr/>
          <p:nvPr>
            <p:ph type="body" idx="1"/>
          </p:nvPr>
        </p:nvSpPr>
        <p:spPr>
          <a:xfrm>
            <a:off x="545465" y="1340485"/>
            <a:ext cx="5934710" cy="4776470"/>
          </a:xfrm>
        </p:spPr>
        <p:txBody>
          <a:bodyPr>
            <a:noAutofit/>
          </a:bodyPr>
          <a:p>
            <a:pPr marL="114300" indent="0">
              <a:lnSpc>
                <a:spcPct val="210000"/>
              </a:lnSpc>
              <a:buNone/>
            </a:pPr>
            <a:r>
              <a:rPr lang="en-US" altLang="en-US" sz="1300">
                <a:latin typeface="Arial" panose="020B0604020202020204" pitchFamily="34" charset="0"/>
                <a:cs typeface="Arial" panose="020B0604020202020204" pitchFamily="34" charset="0"/>
              </a:rPr>
              <a:t>SELECT JD.JOBDEPT AS JOB_DEPT, COUNT(E.EMP_ID) AS EMP_COUNT</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FROM EMPLOYEE AS E</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JOIN JOBDEPARTMENT AS JD</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ON E.JOB_ID = JD.JOB_ID</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GROUP BY JOB_DEPT </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ORDER BY EMP_COUNT DESC;</a:t>
            </a:r>
            <a:endParaRPr lang="en-US" altLang="en-US" sz="1300">
              <a:latin typeface="Arial" panose="020B0604020202020204" pitchFamily="34" charset="0"/>
              <a:cs typeface="Arial" panose="020B0604020202020204" pitchFamily="34" charset="0"/>
            </a:endParaRPr>
          </a:p>
        </p:txBody>
      </p:sp>
      <p:sp>
        <p:nvSpPr>
          <p:cNvPr id="4" name="Title 1"/>
          <p:cNvSpPr/>
          <p:nvPr/>
        </p:nvSpPr>
        <p:spPr>
          <a:xfrm>
            <a:off x="551815" y="764540"/>
            <a:ext cx="9511030" cy="454660"/>
          </a:xfrm>
          <a:prstGeom prst="rect">
            <a:avLst/>
          </a:prstGeom>
          <a:noFill/>
          <a:ln>
            <a:noFill/>
          </a:ln>
        </p:spPr>
        <p:txBody>
          <a:bodyPr wrap="square" lIns="91425" tIns="45700" rIns="91425" bIns="45700" anchor="ctr" anchorCtr="0">
            <a:normAutofit fontScale="25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en-IN" altLang="en-US" sz="8000" b="1">
                <a:solidFill>
                  <a:schemeClr val="tx1">
                    <a:lumMod val="95000"/>
                    <a:lumOff val="5000"/>
                  </a:schemeClr>
                </a:solidFill>
                <a:latin typeface="Arial" panose="020B0604020202020204" pitchFamily="34" charset="0"/>
                <a:cs typeface="Arial" panose="020B0604020202020204" pitchFamily="34" charset="0"/>
              </a:rPr>
              <a:t>6.</a:t>
            </a:r>
            <a:r>
              <a:rPr lang="en-US" altLang="en-US" sz="8000" b="1">
                <a:solidFill>
                  <a:schemeClr val="tx1">
                    <a:lumMod val="95000"/>
                    <a:lumOff val="5000"/>
                  </a:schemeClr>
                </a:solidFill>
                <a:latin typeface="Arial" panose="020B0604020202020204" pitchFamily="34" charset="0"/>
                <a:cs typeface="Arial" panose="020B0604020202020204" pitchFamily="34" charset="0"/>
              </a:rPr>
              <a:t>Which departments have the highest number of employees?</a:t>
            </a:r>
            <a:endParaRPr lang="en-US" altLang="en-US" sz="8000" b="1">
              <a:solidFill>
                <a:schemeClr val="tx1">
                  <a:lumMod val="95000"/>
                  <a:lumOff val="5000"/>
                </a:schemeClr>
              </a:solidFill>
              <a:latin typeface="Arial" panose="020B0604020202020204" pitchFamily="34" charset="0"/>
              <a:cs typeface="Arial" panose="020B0604020202020204" pitchFamily="34" charset="0"/>
            </a:endParaRPr>
          </a:p>
        </p:txBody>
      </p:sp>
      <p:sp>
        <p:nvSpPr>
          <p:cNvPr id="6" name="Text Box 5"/>
          <p:cNvSpPr txBox="1"/>
          <p:nvPr/>
        </p:nvSpPr>
        <p:spPr>
          <a:xfrm>
            <a:off x="5448300" y="5372735"/>
            <a:ext cx="5584825" cy="334010"/>
          </a:xfrm>
          <a:prstGeom prst="rect">
            <a:avLst/>
          </a:prstGeom>
        </p:spPr>
        <p:txBody>
          <a:bodyPr>
            <a:noAutofit/>
          </a:bodyPr>
          <a:p>
            <a:pPr marL="0" indent="0" fontAlgn="base">
              <a:lnSpc>
                <a:spcPts val="1445"/>
              </a:lnSpc>
              <a:spcBef>
                <a:spcPct val="0"/>
              </a:spcBef>
              <a:spcAft>
                <a:spcPct val="0"/>
              </a:spcAft>
            </a:pPr>
            <a:endParaRPr lang="en-US" altLang="zh-CN" sz="2000" b="1" i="0">
              <a:solidFill>
                <a:schemeClr val="tx1"/>
              </a:solidFill>
              <a:latin typeface="Arial" panose="020B0604020202020204" pitchFamily="34" charset="0"/>
              <a:ea typeface="gg sans"/>
              <a:cs typeface="Arial" panose="020B0604020202020204" pitchFamily="34" charset="0"/>
            </a:endParaRPr>
          </a:p>
        </p:txBody>
      </p:sp>
      <p:sp>
        <p:nvSpPr>
          <p:cNvPr id="10" name="Rounded Rectangle 9"/>
          <p:cNvSpPr/>
          <p:nvPr/>
        </p:nvSpPr>
        <p:spPr>
          <a:xfrm>
            <a:off x="7055485" y="3663315"/>
            <a:ext cx="4737735" cy="2312035"/>
          </a:xfrm>
          <a:prstGeom prst="roundRect">
            <a:avLst/>
          </a:prstGeom>
          <a:solidFill>
            <a:schemeClr val="accent1">
              <a:lumMod val="20000"/>
              <a:lumOff val="80000"/>
            </a:schemeClr>
          </a:solidFill>
          <a:ln>
            <a:gradFill>
              <a:gsLst>
                <a:gs pos="50000">
                  <a:schemeClr val="tx1"/>
                </a:gs>
                <a:gs pos="0">
                  <a:schemeClr val="tx1">
                    <a:lumMod val="25000"/>
                    <a:lumOff val="75000"/>
                  </a:schemeClr>
                </a:gs>
                <a:gs pos="100000">
                  <a:schemeClr val="tx1">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10000"/>
              </a:lnSpc>
            </a:pPr>
            <a:endParaRPr lang="en-IN" altLang="en-US" sz="1800" b="1">
              <a:solidFill>
                <a:schemeClr val="tx1">
                  <a:lumMod val="95000"/>
                  <a:lumOff val="5000"/>
                </a:schemeClr>
              </a:solidFill>
              <a:latin typeface="Lucida Sans" panose="020B0602030504020204" charset="0"/>
              <a:cs typeface="Lucida Sans" panose="020B0602030504020204" charset="0"/>
            </a:endParaRPr>
          </a:p>
          <a:p>
            <a:pPr algn="ctr">
              <a:lnSpc>
                <a:spcPct val="110000"/>
              </a:lnSpc>
            </a:pPr>
            <a:r>
              <a:rPr lang="en-IN" altLang="en-US" sz="1800" b="1">
                <a:solidFill>
                  <a:schemeClr val="tx1">
                    <a:lumMod val="95000"/>
                    <a:lumOff val="5000"/>
                  </a:schemeClr>
                </a:solidFill>
                <a:latin typeface="Lucida Sans" panose="020B0602030504020204" charset="0"/>
                <a:cs typeface="Lucida Sans" panose="020B0602030504020204" charset="0"/>
              </a:rPr>
              <a:t>Insights</a:t>
            </a:r>
            <a:r>
              <a:rPr lang="en-IN" altLang="en-US" sz="1800">
                <a:solidFill>
                  <a:schemeClr val="tx1">
                    <a:lumMod val="95000"/>
                    <a:lumOff val="5000"/>
                  </a:schemeClr>
                </a:solidFill>
              </a:rPr>
              <a:t>:  </a:t>
            </a:r>
            <a:r>
              <a:rPr lang="en-US" altLang="en-US" sz="1800">
                <a:solidFill>
                  <a:schemeClr val="tx1">
                    <a:lumMod val="95000"/>
                    <a:lumOff val="5000"/>
                  </a:schemeClr>
                </a:solidFill>
              </a:rPr>
              <a:t>"The analysis shows that the IT department has the highest number of employees, followed by Sales. This indicates that IT and Sales are the organization's major workforce areas and may require greater resource and workforce planning."</a:t>
            </a:r>
            <a:endParaRPr lang="en-US" altLang="en-US" sz="1800">
              <a:solidFill>
                <a:schemeClr val="tx1">
                  <a:lumMod val="95000"/>
                  <a:lumOff val="5000"/>
                </a:schemeClr>
              </a:solidFill>
            </a:endParaRPr>
          </a:p>
          <a:p>
            <a:pPr algn="ctr"/>
            <a:endParaRPr lang="en-IN" altLang="en-US">
              <a:solidFill>
                <a:schemeClr val="tx1">
                  <a:lumMod val="95000"/>
                  <a:lumOff val="5000"/>
                </a:schemeClr>
              </a:solidFill>
            </a:endParaRPr>
          </a:p>
        </p:txBody>
      </p:sp>
      <p:pic>
        <p:nvPicPr>
          <p:cNvPr id="7" name="Picture 6" descr="image 3"/>
          <p:cNvPicPr>
            <a:picLocks noChangeAspect="1"/>
          </p:cNvPicPr>
          <p:nvPr/>
        </p:nvPicPr>
        <p:blipFill>
          <a:blip r:embed="rId1"/>
          <a:stretch>
            <a:fillRect/>
          </a:stretch>
        </p:blipFill>
        <p:spPr>
          <a:xfrm>
            <a:off x="7032625" y="1268730"/>
            <a:ext cx="4509770" cy="20891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263525" y="188595"/>
            <a:ext cx="9511030" cy="454660"/>
          </a:xfrm>
        </p:spPr>
        <p:txBody>
          <a:bodyPr>
            <a:normAutofit fontScale="90000"/>
          </a:bodyPr>
          <a:p>
            <a:r>
              <a:rPr lang="en-IN" altLang="en-US" sz="3110" b="1" u="sng">
                <a:solidFill>
                  <a:srgbClr val="C00000"/>
                </a:solidFill>
              </a:rPr>
              <a:t>Key Analysis Queries</a:t>
            </a:r>
            <a:endParaRPr lang="en-IN" altLang="en-US" sz="3110" b="1" u="sng">
              <a:solidFill>
                <a:srgbClr val="C00000"/>
              </a:solidFill>
            </a:endParaRPr>
          </a:p>
        </p:txBody>
      </p:sp>
      <p:sp>
        <p:nvSpPr>
          <p:cNvPr id="3" name="Text Placeholder 2"/>
          <p:cNvSpPr/>
          <p:nvPr>
            <p:ph type="body" idx="1"/>
          </p:nvPr>
        </p:nvSpPr>
        <p:spPr>
          <a:xfrm>
            <a:off x="545465" y="1340485"/>
            <a:ext cx="5934710" cy="4776470"/>
          </a:xfrm>
        </p:spPr>
        <p:txBody>
          <a:bodyPr>
            <a:noAutofit/>
          </a:bodyPr>
          <a:p>
            <a:pPr marL="114300" indent="0">
              <a:lnSpc>
                <a:spcPct val="210000"/>
              </a:lnSpc>
              <a:buNone/>
            </a:pPr>
            <a:r>
              <a:rPr lang="en-US" altLang="en-US" sz="1300">
                <a:latin typeface="Arial" panose="020B0604020202020204" pitchFamily="34" charset="0"/>
                <a:cs typeface="Arial" panose="020B0604020202020204" pitchFamily="34" charset="0"/>
              </a:rPr>
              <a:t>SELECT YEAR(DATE) AS LEAVE_YEAR,</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COUNT(DISTINCT EMP_ID) AS EMPLOYEES_ON_LEAVE</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FROM LEAVES</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GROUP BY YEAR(DATE)</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ORDER BY EMPLOYEES_ON_LEAVE DESC</a:t>
            </a:r>
            <a:endParaRPr lang="en-US" altLang="en-US" sz="1300">
              <a:latin typeface="Arial" panose="020B0604020202020204" pitchFamily="34" charset="0"/>
              <a:cs typeface="Arial" panose="020B0604020202020204" pitchFamily="34" charset="0"/>
            </a:endParaRPr>
          </a:p>
          <a:p>
            <a:pPr marL="114300" indent="0">
              <a:lnSpc>
                <a:spcPct val="210000"/>
              </a:lnSpc>
              <a:buNone/>
            </a:pPr>
            <a:r>
              <a:rPr lang="en-US" altLang="en-US" sz="1300">
                <a:latin typeface="Arial" panose="020B0604020202020204" pitchFamily="34" charset="0"/>
                <a:cs typeface="Arial" panose="020B0604020202020204" pitchFamily="34" charset="0"/>
              </a:rPr>
              <a:t>LIMIT 1;</a:t>
            </a:r>
            <a:endParaRPr lang="en-US" altLang="en-US" sz="1300">
              <a:latin typeface="Arial" panose="020B0604020202020204" pitchFamily="34" charset="0"/>
              <a:cs typeface="Arial" panose="020B0604020202020204" pitchFamily="34" charset="0"/>
            </a:endParaRPr>
          </a:p>
        </p:txBody>
      </p:sp>
      <p:sp>
        <p:nvSpPr>
          <p:cNvPr id="4" name="Title 1"/>
          <p:cNvSpPr/>
          <p:nvPr/>
        </p:nvSpPr>
        <p:spPr>
          <a:xfrm>
            <a:off x="551815" y="764540"/>
            <a:ext cx="9511030" cy="454660"/>
          </a:xfrm>
          <a:prstGeom prst="rect">
            <a:avLst/>
          </a:prstGeom>
          <a:noFill/>
          <a:ln>
            <a:noFill/>
          </a:ln>
        </p:spPr>
        <p:txBody>
          <a:bodyPr wrap="square" lIns="91425" tIns="45700" rIns="91425" bIns="45700" anchor="ctr" anchorCtr="0">
            <a:normAutofit fontScale="25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en-IN" altLang="en-US" sz="8000" b="1">
                <a:solidFill>
                  <a:schemeClr val="tx1">
                    <a:lumMod val="95000"/>
                    <a:lumOff val="5000"/>
                  </a:schemeClr>
                </a:solidFill>
                <a:latin typeface="Arial" panose="020B0604020202020204" pitchFamily="34" charset="0"/>
                <a:cs typeface="Arial" panose="020B0604020202020204" pitchFamily="34" charset="0"/>
              </a:rPr>
              <a:t>7.</a:t>
            </a:r>
            <a:r>
              <a:rPr lang="en-US" altLang="en-US" sz="8000" b="1">
                <a:solidFill>
                  <a:schemeClr val="tx1">
                    <a:lumMod val="95000"/>
                    <a:lumOff val="5000"/>
                  </a:schemeClr>
                </a:solidFill>
                <a:latin typeface="Arial" panose="020B0604020202020204" pitchFamily="34" charset="0"/>
                <a:cs typeface="Arial" panose="020B0604020202020204" pitchFamily="34" charset="0"/>
              </a:rPr>
              <a:t>Which year had the most employees taking leaves?</a:t>
            </a:r>
            <a:endParaRPr lang="en-US" altLang="en-US" sz="8000" b="1">
              <a:solidFill>
                <a:schemeClr val="tx1">
                  <a:lumMod val="95000"/>
                  <a:lumOff val="5000"/>
                </a:schemeClr>
              </a:solidFill>
              <a:latin typeface="Arial" panose="020B0604020202020204" pitchFamily="34" charset="0"/>
              <a:cs typeface="Arial" panose="020B0604020202020204" pitchFamily="34" charset="0"/>
            </a:endParaRPr>
          </a:p>
        </p:txBody>
      </p:sp>
      <p:sp>
        <p:nvSpPr>
          <p:cNvPr id="6" name="Text Box 5"/>
          <p:cNvSpPr txBox="1"/>
          <p:nvPr/>
        </p:nvSpPr>
        <p:spPr>
          <a:xfrm>
            <a:off x="5448300" y="5372735"/>
            <a:ext cx="5584825" cy="334010"/>
          </a:xfrm>
          <a:prstGeom prst="rect">
            <a:avLst/>
          </a:prstGeom>
        </p:spPr>
        <p:txBody>
          <a:bodyPr>
            <a:noAutofit/>
          </a:bodyPr>
          <a:p>
            <a:pPr marL="0" indent="0" fontAlgn="base">
              <a:lnSpc>
                <a:spcPts val="1445"/>
              </a:lnSpc>
              <a:spcBef>
                <a:spcPct val="0"/>
              </a:spcBef>
              <a:spcAft>
                <a:spcPct val="0"/>
              </a:spcAft>
            </a:pPr>
            <a:endParaRPr lang="en-US" altLang="zh-CN" sz="2000" b="1" i="0">
              <a:solidFill>
                <a:schemeClr val="tx1"/>
              </a:solidFill>
              <a:latin typeface="Arial" panose="020B0604020202020204" pitchFamily="34" charset="0"/>
              <a:ea typeface="gg sans"/>
              <a:cs typeface="Arial" panose="020B0604020202020204" pitchFamily="34" charset="0"/>
            </a:endParaRPr>
          </a:p>
        </p:txBody>
      </p:sp>
      <p:sp>
        <p:nvSpPr>
          <p:cNvPr id="10" name="Rounded Rectangle 9"/>
          <p:cNvSpPr/>
          <p:nvPr/>
        </p:nvSpPr>
        <p:spPr>
          <a:xfrm>
            <a:off x="7055485" y="3663315"/>
            <a:ext cx="4737735" cy="2312035"/>
          </a:xfrm>
          <a:prstGeom prst="roundRect">
            <a:avLst/>
          </a:prstGeom>
          <a:solidFill>
            <a:schemeClr val="accent1">
              <a:lumMod val="20000"/>
              <a:lumOff val="80000"/>
            </a:schemeClr>
          </a:solidFill>
          <a:ln>
            <a:gradFill>
              <a:gsLst>
                <a:gs pos="50000">
                  <a:schemeClr val="tx1"/>
                </a:gs>
                <a:gs pos="0">
                  <a:schemeClr val="tx1">
                    <a:lumMod val="25000"/>
                    <a:lumOff val="75000"/>
                  </a:schemeClr>
                </a:gs>
                <a:gs pos="100000">
                  <a:schemeClr val="tx1">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10000"/>
              </a:lnSpc>
            </a:pPr>
            <a:endParaRPr lang="en-IN" altLang="en-US" sz="1800" b="1">
              <a:solidFill>
                <a:schemeClr val="tx1">
                  <a:lumMod val="95000"/>
                  <a:lumOff val="5000"/>
                </a:schemeClr>
              </a:solidFill>
              <a:latin typeface="Lucida Sans" panose="020B0602030504020204" charset="0"/>
              <a:cs typeface="Lucida Sans" panose="020B0602030504020204" charset="0"/>
            </a:endParaRPr>
          </a:p>
          <a:p>
            <a:pPr algn="ctr">
              <a:lnSpc>
                <a:spcPct val="110000"/>
              </a:lnSpc>
            </a:pPr>
            <a:endParaRPr lang="en-IN" altLang="en-US" sz="1800" b="1">
              <a:solidFill>
                <a:schemeClr val="tx1">
                  <a:lumMod val="95000"/>
                  <a:lumOff val="5000"/>
                </a:schemeClr>
              </a:solidFill>
              <a:latin typeface="Lucida Sans" panose="020B0602030504020204" charset="0"/>
              <a:cs typeface="Lucida Sans" panose="020B0602030504020204" charset="0"/>
            </a:endParaRPr>
          </a:p>
          <a:p>
            <a:pPr algn="ctr">
              <a:lnSpc>
                <a:spcPct val="110000"/>
              </a:lnSpc>
            </a:pPr>
            <a:r>
              <a:rPr lang="en-IN" altLang="en-US" sz="1800" b="1">
                <a:solidFill>
                  <a:schemeClr val="tx1">
                    <a:lumMod val="95000"/>
                    <a:lumOff val="5000"/>
                  </a:schemeClr>
                </a:solidFill>
                <a:latin typeface="Lucida Sans" panose="020B0602030504020204" charset="0"/>
                <a:cs typeface="Lucida Sans" panose="020B0602030504020204" charset="0"/>
              </a:rPr>
              <a:t>Insights</a:t>
            </a:r>
            <a:r>
              <a:rPr lang="en-IN" altLang="en-US" sz="1800">
                <a:solidFill>
                  <a:schemeClr val="tx1">
                    <a:lumMod val="95000"/>
                    <a:lumOff val="5000"/>
                  </a:schemeClr>
                </a:solidFill>
              </a:rPr>
              <a:t>:  </a:t>
            </a:r>
            <a:r>
              <a:rPr lang="en-US" altLang="en-US" sz="1800">
                <a:solidFill>
                  <a:schemeClr val="tx1">
                    <a:lumMod val="95000"/>
                    <a:lumOff val="5000"/>
                  </a:schemeClr>
                </a:solidFill>
              </a:rPr>
              <a:t>"The analysis identifies the year with the highest number of employees taking leave. This helps HR understand employee absence patterns and plan workforce requirements more effectively."</a:t>
            </a:r>
            <a:endParaRPr lang="en-US" altLang="en-US" sz="1800">
              <a:solidFill>
                <a:schemeClr val="tx1">
                  <a:lumMod val="95000"/>
                  <a:lumOff val="5000"/>
                </a:schemeClr>
              </a:solidFill>
            </a:endParaRPr>
          </a:p>
          <a:p>
            <a:pPr algn="ctr"/>
            <a:endParaRPr lang="en-IN" altLang="en-US">
              <a:solidFill>
                <a:schemeClr val="tx1">
                  <a:lumMod val="95000"/>
                  <a:lumOff val="5000"/>
                </a:schemeClr>
              </a:solidFill>
            </a:endParaRPr>
          </a:p>
          <a:p>
            <a:pPr algn="ctr"/>
            <a:endParaRPr lang="en-IN" altLang="en-US">
              <a:solidFill>
                <a:schemeClr val="tx1">
                  <a:lumMod val="95000"/>
                  <a:lumOff val="5000"/>
                </a:schemeClr>
              </a:solidFill>
            </a:endParaRPr>
          </a:p>
        </p:txBody>
      </p:sp>
      <p:pic>
        <p:nvPicPr>
          <p:cNvPr id="7" name="Picture 6" descr="image"/>
          <p:cNvPicPr>
            <a:picLocks noChangeAspect="1"/>
          </p:cNvPicPr>
          <p:nvPr/>
        </p:nvPicPr>
        <p:blipFill>
          <a:blip r:embed="rId1"/>
          <a:stretch>
            <a:fillRect/>
          </a:stretch>
        </p:blipFill>
        <p:spPr>
          <a:xfrm>
            <a:off x="7708900" y="1556385"/>
            <a:ext cx="3324225" cy="11322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695960" y="260350"/>
            <a:ext cx="3013710" cy="902970"/>
          </a:xfrm>
        </p:spPr>
        <p:txBody>
          <a:bodyPr/>
          <a:p>
            <a:r>
              <a:rPr lang="en-IN" altLang="en-US" sz="2800" b="1" u="sng">
                <a:solidFill>
                  <a:srgbClr val="C00000"/>
                </a:solidFill>
                <a:latin typeface="Arial" panose="020B0604020202020204" pitchFamily="34" charset="0"/>
                <a:cs typeface="Arial" panose="020B0604020202020204" pitchFamily="34" charset="0"/>
              </a:rPr>
              <a:t>Conclusion</a:t>
            </a:r>
            <a:endParaRPr lang="en-IN" altLang="en-US" sz="2800" b="1" u="sng">
              <a:solidFill>
                <a:srgbClr val="C00000"/>
              </a:solidFill>
              <a:latin typeface="Arial" panose="020B0604020202020204" pitchFamily="34" charset="0"/>
              <a:cs typeface="Arial" panose="020B0604020202020204" pitchFamily="34" charset="0"/>
            </a:endParaRPr>
          </a:p>
        </p:txBody>
      </p:sp>
      <p:sp>
        <p:nvSpPr>
          <p:cNvPr id="3" name="Text Box 2"/>
          <p:cNvSpPr txBox="1"/>
          <p:nvPr/>
        </p:nvSpPr>
        <p:spPr>
          <a:xfrm>
            <a:off x="1127760" y="1163320"/>
            <a:ext cx="9050655" cy="4763770"/>
          </a:xfrm>
          <a:prstGeom prst="rect">
            <a:avLst/>
          </a:prstGeom>
          <a:noFill/>
        </p:spPr>
        <p:txBody>
          <a:bodyPr wrap="square" rtlCol="0">
            <a:noAutofit/>
          </a:bodyPr>
          <a:p>
            <a:pPr>
              <a:lnSpc>
                <a:spcPct val="130000"/>
              </a:lnSpc>
            </a:pPr>
            <a:r>
              <a:rPr lang="en-US" altLang="en-US" sz="2400">
                <a:latin typeface="Arial" panose="020B0604020202020204" pitchFamily="34" charset="0"/>
                <a:cs typeface="Arial" panose="020B0604020202020204" pitchFamily="34" charset="0"/>
              </a:rPr>
              <a:t>The Employee Management System provides a structured way to manage and analyze important employee information. Using SQL, the project helps identify salary patterns, bonus distribution, leave impact on payroll, and qualification requirements across positions. These insights can help HR teams control payroll costs, plan workforce requirements, and make informed employee-related decisions. Overall, the project demonstrates how SQL can transform employee data into meaningful business insights for better HR management.</a:t>
            </a:r>
            <a:endParaRPr lang="en-US" sz="2400">
              <a:latin typeface="Arial" panose="020B0604020202020204" pitchFamily="34" charset="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767715" y="188595"/>
            <a:ext cx="4380865" cy="877570"/>
          </a:xfrm>
        </p:spPr>
        <p:txBody>
          <a:bodyPr/>
          <a:p>
            <a:r>
              <a:rPr lang="en-US" altLang="en-US" sz="2800" b="1" u="sng">
                <a:solidFill>
                  <a:srgbClr val="C00000"/>
                </a:solidFill>
                <a:latin typeface="Arial" panose="020B0604020202020204" pitchFamily="34" charset="0"/>
                <a:cs typeface="Arial" panose="020B0604020202020204" pitchFamily="34" charset="0"/>
              </a:rPr>
              <a:t>Challenges</a:t>
            </a:r>
            <a:endParaRPr lang="en-US" altLang="en-US" sz="2800" b="1" u="sng">
              <a:solidFill>
                <a:srgbClr val="C00000"/>
              </a:solidFill>
              <a:latin typeface="Arial" panose="020B0604020202020204" pitchFamily="34" charset="0"/>
              <a:cs typeface="Arial" panose="020B0604020202020204" pitchFamily="34" charset="0"/>
            </a:endParaRPr>
          </a:p>
        </p:txBody>
      </p:sp>
      <p:sp>
        <p:nvSpPr>
          <p:cNvPr id="3" name="Text Placeholder 2"/>
          <p:cNvSpPr/>
          <p:nvPr>
            <p:ph type="body" idx="1"/>
          </p:nvPr>
        </p:nvSpPr>
        <p:spPr>
          <a:xfrm>
            <a:off x="695960" y="1066165"/>
            <a:ext cx="10420350" cy="4732655"/>
          </a:xfrm>
        </p:spPr>
        <p:txBody>
          <a:bodyPr>
            <a:normAutofit fontScale="90000"/>
          </a:bodyPr>
          <a:p>
            <a:pPr marL="114300" indent="0">
              <a:lnSpc>
                <a:spcPct val="150000"/>
              </a:lnSpc>
              <a:buNone/>
            </a:pPr>
            <a:r>
              <a:rPr lang="en-US" altLang="en-US" sz="2400">
                <a:latin typeface="Arial" panose="020B0604020202020204" pitchFamily="34" charset="0"/>
                <a:cs typeface="Arial" panose="020B0604020202020204" pitchFamily="34" charset="0"/>
              </a:rPr>
              <a:t>● Defining correct table relationships and ensuring accurate use of foreign keys. </a:t>
            </a:r>
            <a:endParaRPr lang="en-US" altLang="en-US" sz="2400">
              <a:latin typeface="Arial" panose="020B0604020202020204" pitchFamily="34" charset="0"/>
              <a:cs typeface="Arial" panose="020B0604020202020204" pitchFamily="34" charset="0"/>
            </a:endParaRPr>
          </a:p>
          <a:p>
            <a:pPr marL="114300" indent="0">
              <a:lnSpc>
                <a:spcPct val="150000"/>
              </a:lnSpc>
              <a:buNone/>
            </a:pPr>
            <a:r>
              <a:rPr lang="en-US" altLang="en-US" sz="2400">
                <a:latin typeface="Arial" panose="020B0604020202020204" pitchFamily="34" charset="0"/>
                <a:cs typeface="Arial" panose="020B0604020202020204" pitchFamily="34" charset="0"/>
              </a:rPr>
              <a:t>● Maintaining data consistency with cascading updates and deletes. </a:t>
            </a:r>
            <a:endParaRPr lang="en-US" altLang="en-US" sz="2400">
              <a:latin typeface="Arial" panose="020B0604020202020204" pitchFamily="34" charset="0"/>
              <a:cs typeface="Arial" panose="020B0604020202020204" pitchFamily="34" charset="0"/>
            </a:endParaRPr>
          </a:p>
          <a:p>
            <a:pPr marL="114300" indent="0">
              <a:lnSpc>
                <a:spcPct val="150000"/>
              </a:lnSpc>
              <a:buNone/>
            </a:pPr>
            <a:r>
              <a:rPr lang="en-US" altLang="en-US" sz="2400">
                <a:latin typeface="Arial" panose="020B0604020202020204" pitchFamily="34" charset="0"/>
                <a:cs typeface="Arial" panose="020B0604020202020204" pitchFamily="34" charset="0"/>
              </a:rPr>
              <a:t>● Writing complex joins for reports involving employee roles, leaves, and payroll. </a:t>
            </a:r>
            <a:endParaRPr lang="en-US" altLang="en-US" sz="2400">
              <a:latin typeface="Arial" panose="020B0604020202020204" pitchFamily="34" charset="0"/>
              <a:cs typeface="Arial" panose="020B0604020202020204" pitchFamily="34" charset="0"/>
            </a:endParaRPr>
          </a:p>
          <a:p>
            <a:pPr marL="114300" indent="0">
              <a:lnSpc>
                <a:spcPct val="150000"/>
              </a:lnSpc>
              <a:buNone/>
            </a:pPr>
            <a:r>
              <a:rPr lang="en-US" altLang="en-US" sz="2400">
                <a:latin typeface="Arial" panose="020B0604020202020204" pitchFamily="34" charset="0"/>
                <a:cs typeface="Arial" panose="020B0604020202020204" pitchFamily="34" charset="0"/>
              </a:rPr>
              <a:t>● Ensuring all date fields follow the YYYY-MM-DD format for reliable time-based analysis. </a:t>
            </a:r>
            <a:endParaRPr lang="en-US" altLang="en-US" sz="2400">
              <a:latin typeface="Arial" panose="020B0604020202020204" pitchFamily="34" charset="0"/>
              <a:cs typeface="Arial" panose="020B0604020202020204" pitchFamily="34" charset="0"/>
            </a:endParaRPr>
          </a:p>
          <a:p>
            <a:pPr marL="114300" indent="0">
              <a:lnSpc>
                <a:spcPct val="150000"/>
              </a:lnSpc>
              <a:buNone/>
            </a:pPr>
            <a:r>
              <a:rPr lang="en-US" altLang="en-US" sz="2400">
                <a:latin typeface="Arial" panose="020B0604020202020204" pitchFamily="34" charset="0"/>
                <a:cs typeface="Arial" panose="020B0604020202020204" pitchFamily="34" charset="0"/>
              </a:rPr>
              <a:t>● Preventing duplicate entries using unique constraints, especially on email fields.</a:t>
            </a:r>
            <a:endParaRPr lang="en-US" altLang="en-US" sz="2400">
              <a:latin typeface="Arial" panose="020B0604020202020204" pitchFamily="34" charset="0"/>
              <a:cs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767715" y="188595"/>
            <a:ext cx="6655435" cy="877570"/>
          </a:xfrm>
        </p:spPr>
        <p:txBody>
          <a:bodyPr>
            <a:normAutofit fontScale="90000"/>
          </a:bodyPr>
          <a:p>
            <a:br>
              <a:rPr lang="en-US" altLang="en-US" sz="2800" b="1" u="sng">
                <a:solidFill>
                  <a:srgbClr val="C00000"/>
                </a:solidFill>
                <a:latin typeface="Arial" panose="020B0604020202020204" pitchFamily="34" charset="0"/>
                <a:cs typeface="Arial" panose="020B0604020202020204" pitchFamily="34" charset="0"/>
              </a:rPr>
            </a:br>
            <a:r>
              <a:rPr lang="en-US" altLang="en-US" sz="2800" b="1" u="sng">
                <a:solidFill>
                  <a:srgbClr val="C00000"/>
                </a:solidFill>
                <a:latin typeface="Arial" panose="020B0604020202020204" pitchFamily="34" charset="0"/>
                <a:cs typeface="Arial" panose="020B0604020202020204" pitchFamily="34" charset="0"/>
              </a:rPr>
              <a:t>Recommendations / Future Enhancements</a:t>
            </a:r>
            <a:endParaRPr lang="en-US" altLang="en-US" sz="2800" b="1" u="sng">
              <a:solidFill>
                <a:srgbClr val="C00000"/>
              </a:solidFill>
              <a:latin typeface="Arial" panose="020B0604020202020204" pitchFamily="34" charset="0"/>
              <a:cs typeface="Arial" panose="020B0604020202020204" pitchFamily="34" charset="0"/>
            </a:endParaRPr>
          </a:p>
        </p:txBody>
      </p:sp>
      <p:sp>
        <p:nvSpPr>
          <p:cNvPr id="3" name="Text Placeholder 2"/>
          <p:cNvSpPr/>
          <p:nvPr>
            <p:ph type="body" idx="1"/>
          </p:nvPr>
        </p:nvSpPr>
        <p:spPr>
          <a:xfrm>
            <a:off x="695960" y="1117600"/>
            <a:ext cx="10208895" cy="4863465"/>
          </a:xfrm>
        </p:spPr>
        <p:txBody>
          <a:bodyPr>
            <a:noAutofit/>
          </a:bodyPr>
          <a:p>
            <a:pPr>
              <a:lnSpc>
                <a:spcPct val="150000"/>
              </a:lnSpc>
            </a:pPr>
            <a:r>
              <a:rPr lang="en-US" altLang="en-US" sz="1300" b="1">
                <a:latin typeface="Arial" panose="020B0604020202020204" pitchFamily="34" charset="0"/>
                <a:cs typeface="Arial" panose="020B0604020202020204" pitchFamily="34" charset="0"/>
              </a:rPr>
              <a:t>Add Performance Tracking</a:t>
            </a:r>
            <a:endParaRPr lang="en-US" altLang="en-US" sz="1300" b="1">
              <a:latin typeface="Arial" panose="020B0604020202020204" pitchFamily="34" charset="0"/>
              <a:cs typeface="Arial" panose="020B0604020202020204" pitchFamily="34" charset="0"/>
            </a:endParaRPr>
          </a:p>
          <a:p>
            <a:pPr marL="114300" indent="457200">
              <a:lnSpc>
                <a:spcPct val="150000"/>
              </a:lnSpc>
              <a:buNone/>
            </a:pPr>
            <a:r>
              <a:rPr lang="en-US" altLang="en-US" sz="1300">
                <a:latin typeface="Arial" panose="020B0604020202020204" pitchFamily="34" charset="0"/>
                <a:cs typeface="Arial" panose="020B0604020202020204" pitchFamily="34" charset="0"/>
              </a:rPr>
              <a:t>Store employee performance ratings, appraisals, promotions, and training records to analyze employee growth.</a:t>
            </a:r>
            <a:endParaRPr lang="en-US" altLang="en-US" sz="1300">
              <a:latin typeface="Arial" panose="020B0604020202020204" pitchFamily="34" charset="0"/>
              <a:cs typeface="Arial" panose="020B0604020202020204" pitchFamily="34" charset="0"/>
            </a:endParaRPr>
          </a:p>
          <a:p>
            <a:pPr>
              <a:lnSpc>
                <a:spcPct val="150000"/>
              </a:lnSpc>
            </a:pPr>
            <a:r>
              <a:rPr lang="en-US" altLang="en-US" sz="1300" b="1">
                <a:latin typeface="Arial" panose="020B0604020202020204" pitchFamily="34" charset="0"/>
                <a:cs typeface="Arial" panose="020B0604020202020204" pitchFamily="34" charset="0"/>
              </a:rPr>
              <a:t>Create Interactive Dashboards</a:t>
            </a:r>
            <a:endParaRPr lang="en-US" altLang="en-US" sz="1300" b="1">
              <a:latin typeface="Arial" panose="020B0604020202020204" pitchFamily="34" charset="0"/>
              <a:cs typeface="Arial" panose="020B0604020202020204" pitchFamily="34" charset="0"/>
            </a:endParaRPr>
          </a:p>
          <a:p>
            <a:pPr marL="114300" indent="457200">
              <a:lnSpc>
                <a:spcPct val="150000"/>
              </a:lnSpc>
              <a:buNone/>
            </a:pPr>
            <a:r>
              <a:rPr lang="en-US" altLang="en-US" sz="1300">
                <a:latin typeface="Arial" panose="020B0604020202020204" pitchFamily="34" charset="0"/>
                <a:cs typeface="Arial" panose="020B0604020202020204" pitchFamily="34" charset="0"/>
              </a:rPr>
              <a:t>Connect the SQL database with Power BI or Tableau to create dashboards showing employee count, salary trends, department </a:t>
            </a:r>
            <a:r>
              <a:rPr lang="en-IN" altLang="en-US" sz="1300">
                <a:latin typeface="Arial" panose="020B0604020202020204" pitchFamily="34" charset="0"/>
                <a:cs typeface="Arial" panose="020B0604020202020204" pitchFamily="34" charset="0"/>
              </a:rPr>
              <a:t>	</a:t>
            </a:r>
            <a:r>
              <a:rPr lang="en-US" altLang="en-US" sz="1300">
                <a:latin typeface="Arial" panose="020B0604020202020204" pitchFamily="34" charset="0"/>
                <a:cs typeface="Arial" panose="020B0604020202020204" pitchFamily="34" charset="0"/>
              </a:rPr>
              <a:t>distribution, attrition, and performance.</a:t>
            </a:r>
            <a:endParaRPr lang="en-US" altLang="en-US" sz="1300">
              <a:latin typeface="Arial" panose="020B0604020202020204" pitchFamily="34" charset="0"/>
              <a:cs typeface="Arial" panose="020B0604020202020204" pitchFamily="34" charset="0"/>
            </a:endParaRPr>
          </a:p>
          <a:p>
            <a:pPr>
              <a:lnSpc>
                <a:spcPct val="150000"/>
              </a:lnSpc>
            </a:pPr>
            <a:r>
              <a:rPr lang="en-US" altLang="en-US" sz="1300" b="1">
                <a:latin typeface="Arial" panose="020B0604020202020204" pitchFamily="34" charset="0"/>
                <a:cs typeface="Arial" panose="020B0604020202020204" pitchFamily="34" charset="0"/>
              </a:rPr>
              <a:t>Implement Role-Based Access</a:t>
            </a:r>
            <a:endParaRPr lang="en-US" altLang="en-US" sz="1300" b="1">
              <a:latin typeface="Arial" panose="020B0604020202020204" pitchFamily="34" charset="0"/>
              <a:cs typeface="Arial" panose="020B0604020202020204" pitchFamily="34" charset="0"/>
            </a:endParaRPr>
          </a:p>
          <a:p>
            <a:pPr marL="114300" indent="457200">
              <a:lnSpc>
                <a:spcPct val="150000"/>
              </a:lnSpc>
              <a:buNone/>
            </a:pPr>
            <a:r>
              <a:rPr lang="en-US" altLang="en-US" sz="1300">
                <a:latin typeface="Arial" panose="020B0604020202020204" pitchFamily="34" charset="0"/>
                <a:cs typeface="Arial" panose="020B0604020202020204" pitchFamily="34" charset="0"/>
              </a:rPr>
              <a:t>Provide different access levels for HR, managers, and employees so that sensitive employee information is protected.</a:t>
            </a:r>
            <a:endParaRPr lang="en-US" altLang="en-US" sz="1300">
              <a:latin typeface="Arial" panose="020B0604020202020204" pitchFamily="34" charset="0"/>
              <a:cs typeface="Arial" panose="020B0604020202020204" pitchFamily="34" charset="0"/>
            </a:endParaRPr>
          </a:p>
          <a:p>
            <a:pPr>
              <a:lnSpc>
                <a:spcPct val="150000"/>
              </a:lnSpc>
            </a:pPr>
            <a:r>
              <a:rPr lang="en-US" altLang="en-US" sz="1300" b="1">
                <a:latin typeface="Arial" panose="020B0604020202020204" pitchFamily="34" charset="0"/>
                <a:cs typeface="Arial" panose="020B0604020202020204" pitchFamily="34" charset="0"/>
              </a:rPr>
              <a:t>Add Employee Attrition Analysis</a:t>
            </a:r>
            <a:endParaRPr lang="en-US" altLang="en-US" sz="1300" b="1">
              <a:latin typeface="Arial" panose="020B0604020202020204" pitchFamily="34" charset="0"/>
              <a:cs typeface="Arial" panose="020B0604020202020204" pitchFamily="34" charset="0"/>
            </a:endParaRPr>
          </a:p>
          <a:p>
            <a:pPr marL="114300" indent="457200">
              <a:lnSpc>
                <a:spcPct val="150000"/>
              </a:lnSpc>
              <a:buNone/>
            </a:pPr>
            <a:r>
              <a:rPr lang="en-US" altLang="en-US" sz="1300">
                <a:latin typeface="Arial" panose="020B0604020202020204" pitchFamily="34" charset="0"/>
                <a:cs typeface="Arial" panose="020B0604020202020204" pitchFamily="34" charset="0"/>
              </a:rPr>
              <a:t>Analyze factors such as salary, department, experience, and performance to identify employees who may be likely to leave the </a:t>
            </a:r>
            <a:r>
              <a:rPr lang="en-IN" altLang="en-US" sz="1300">
                <a:latin typeface="Arial" panose="020B0604020202020204" pitchFamily="34" charset="0"/>
                <a:cs typeface="Arial" panose="020B0604020202020204" pitchFamily="34" charset="0"/>
              </a:rPr>
              <a:t>	</a:t>
            </a:r>
            <a:r>
              <a:rPr lang="en-US" altLang="en-US" sz="1300">
                <a:latin typeface="Arial" panose="020B0604020202020204" pitchFamily="34" charset="0"/>
                <a:cs typeface="Arial" panose="020B0604020202020204" pitchFamily="34" charset="0"/>
              </a:rPr>
              <a:t>organization.</a:t>
            </a:r>
            <a:endParaRPr lang="en-US" altLang="en-US" sz="1300">
              <a:latin typeface="Arial" panose="020B0604020202020204" pitchFamily="34" charset="0"/>
              <a:cs typeface="Arial" panose="020B0604020202020204" pitchFamily="34" charset="0"/>
            </a:endParaRPr>
          </a:p>
          <a:p>
            <a:pPr>
              <a:lnSpc>
                <a:spcPct val="150000"/>
              </a:lnSpc>
            </a:pPr>
            <a:r>
              <a:rPr lang="en-US" altLang="en-US" sz="1300" b="1">
                <a:latin typeface="Arial" panose="020B0604020202020204" pitchFamily="34" charset="0"/>
                <a:cs typeface="Arial" panose="020B0604020202020204" pitchFamily="34" charset="0"/>
              </a:rPr>
              <a:t>Add Automated Notifications</a:t>
            </a:r>
            <a:endParaRPr lang="en-US" altLang="en-US" sz="1300" b="1">
              <a:latin typeface="Arial" panose="020B0604020202020204" pitchFamily="34" charset="0"/>
              <a:cs typeface="Arial" panose="020B0604020202020204" pitchFamily="34" charset="0"/>
            </a:endParaRPr>
          </a:p>
          <a:p>
            <a:pPr marL="114300" indent="457200">
              <a:lnSpc>
                <a:spcPct val="150000"/>
              </a:lnSpc>
              <a:buNone/>
            </a:pPr>
            <a:r>
              <a:rPr lang="en-US" altLang="en-US" sz="1300">
                <a:latin typeface="Arial" panose="020B0604020202020204" pitchFamily="34" charset="0"/>
                <a:cs typeface="Arial" panose="020B0604020202020204" pitchFamily="34" charset="0"/>
              </a:rPr>
              <a:t>Implement notifications for upcoming leave, birthdays, work anniversaries, performance reviews, and contract expiry dates.</a:t>
            </a:r>
            <a:endParaRPr lang="en-US" altLang="en-US" sz="1300">
              <a:latin typeface="Arial" panose="020B0604020202020204" pitchFamily="34" charset="0"/>
              <a:cs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15" name="Shape 115"/>
        <p:cNvGrpSpPr/>
        <p:nvPr/>
      </p:nvGrpSpPr>
      <p:grpSpPr>
        <a:xfrm>
          <a:off x="0" y="0"/>
          <a:ext cx="0" cy="0"/>
          <a:chOff x="0" y="0"/>
          <a:chExt cx="0" cy="0"/>
        </a:xfrm>
      </p:grpSpPr>
      <p:sp>
        <p:nvSpPr>
          <p:cNvPr id="117" name="Google Shape;117;p5"/>
          <p:cNvSpPr txBox="1"/>
          <p:nvPr/>
        </p:nvSpPr>
        <p:spPr>
          <a:xfrm>
            <a:off x="1415415" y="2493010"/>
            <a:ext cx="3662045" cy="18453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panose="02000000000000000000"/>
              <a:buNone/>
            </a:pPr>
            <a:endParaRPr sz="6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descr="q-a-banner-icon-in-flat-style-question-and-answer-illustration-on-white-isolated-background-communication-sign-business-concept-vector"/>
          <p:cNvPicPr>
            <a:picLocks noChangeAspect="1"/>
          </p:cNvPicPr>
          <p:nvPr/>
        </p:nvPicPr>
        <p:blipFill>
          <a:blip r:embed="rId1"/>
          <a:stretch>
            <a:fillRect/>
          </a:stretch>
        </p:blipFill>
        <p:spPr>
          <a:xfrm>
            <a:off x="609600" y="0"/>
            <a:ext cx="109728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15" name="Shape 115"/>
        <p:cNvGrpSpPr/>
        <p:nvPr/>
      </p:nvGrpSpPr>
      <p:grpSpPr>
        <a:xfrm>
          <a:off x="0" y="0"/>
          <a:ext cx="0" cy="0"/>
          <a:chOff x="0" y="0"/>
          <a:chExt cx="0" cy="0"/>
        </a:xfrm>
      </p:grpSpPr>
      <p:pic>
        <p:nvPicPr>
          <p:cNvPr id="116" name="Google Shape;116;p5"/>
          <p:cNvPicPr preferRelativeResize="0"/>
          <p:nvPr/>
        </p:nvPicPr>
        <p:blipFill rotWithShape="1">
          <a:blip r:embed="rId1"/>
          <a:srcRect/>
          <a:stretch>
            <a:fill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panose="02000000000000000000"/>
              <a:buNone/>
            </a:pPr>
            <a:r>
              <a:rPr lang="en-IN" sz="4400" b="0" i="0" u="none" strike="noStrike" cap="none">
                <a:solidFill>
                  <a:srgbClr val="C00000"/>
                </a:solidFill>
                <a:latin typeface="Libre Baskerville" panose="02000000000000000000"/>
                <a:ea typeface="Libre Baskerville" panose="02000000000000000000"/>
                <a:cs typeface="Libre Baskerville" panose="02000000000000000000"/>
                <a:sym typeface="Libre Baskerville" panose="02000000000000000000"/>
              </a:rPr>
              <a:t>THANK YOU</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ags/tag1.xml><?xml version="1.0" encoding="utf-8"?>
<p:tagLst xmlns:p="http://schemas.openxmlformats.org/presentationml/2006/main">
  <p:tag name="TABLE_ENDDRAG_ORIGIN_RECT" val="610*297"/>
  <p:tag name="TABLE_ENDDRAG_RECT" val="129*92*610*297"/>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8385</Words>
  <Application>WPS Presentation</Application>
  <PresentationFormat/>
  <Paragraphs>267</Paragraphs>
  <Slides>21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21</vt:i4>
      </vt:variant>
    </vt:vector>
  </HeadingPairs>
  <TitlesOfParts>
    <vt:vector size="33" baseType="lpstr">
      <vt:lpstr>Arial</vt:lpstr>
      <vt:lpstr>SimSun</vt:lpstr>
      <vt:lpstr>Wingdings</vt:lpstr>
      <vt:lpstr>Arial</vt:lpstr>
      <vt:lpstr>Calibri</vt:lpstr>
      <vt:lpstr>gg sans</vt:lpstr>
      <vt:lpstr>Segoe Print</vt:lpstr>
      <vt:lpstr>Lucida Sans</vt:lpstr>
      <vt:lpstr>Microsoft YaHei</vt:lpstr>
      <vt:lpstr>Arial Unicode MS</vt:lpstr>
      <vt:lpstr>Libre Baskerville</vt:lpstr>
      <vt:lpstr>Office Theme</vt:lpstr>
      <vt:lpstr>PowerPoint 演示文稿</vt:lpstr>
      <vt:lpstr>Agenda</vt:lpstr>
      <vt:lpstr>About us</vt:lpstr>
      <vt:lpstr>Business Problem</vt:lpstr>
      <vt:lpstr>Problem  Statement</vt:lpstr>
      <vt:lpstr>Objective</vt:lpstr>
      <vt:lpstr>Data Description</vt:lpstr>
      <vt:lpstr>ER Diagram</vt:lpstr>
      <vt:lpstr>Cardinalities</vt:lpstr>
      <vt:lpstr>Key Analysis Queries</vt:lpstr>
      <vt:lpstr>Key Analysis Queries</vt:lpstr>
      <vt:lpstr>Key Analysis Queries</vt:lpstr>
      <vt:lpstr>Key Analysis Queries</vt:lpstr>
      <vt:lpstr>Key Analysis Queries</vt:lpstr>
      <vt:lpstr>Key Analysis Queries</vt:lpstr>
      <vt:lpstr>Key Analysis Queries</vt:lpstr>
      <vt:lpstr>Conclusion</vt:lpstr>
      <vt:lpstr>Challenges</vt:lpstr>
      <vt:lpstr> Recommendations / Future Enhancements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 Ram Aduri</dc:creator>
  <cp:lastModifiedBy>shaik</cp:lastModifiedBy>
  <cp:revision>7</cp:revision>
  <dcterms:created xsi:type="dcterms:W3CDTF">2026-10-06T10:31:00Z</dcterms:created>
  <dcterms:modified xsi:type="dcterms:W3CDTF">2026-10-10T03:43:51Z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8DA8FC76B7874B618935242B49ED8265_13</vt:lpwstr>
  </property>
</Properties>
</file>